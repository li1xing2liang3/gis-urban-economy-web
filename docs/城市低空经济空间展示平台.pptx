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g"/><Relationship Id="rId3" Type="http://schemas.openxmlformats.org/officeDocument/2006/relationships/image" Target="../media/image-21-3.jpg"/><Relationship Id="rId4" Type="http://schemas.openxmlformats.org/officeDocument/2006/relationships/image" Target="../media/image-21-4.jpg"/><Relationship Id="rId5" Type="http://schemas.openxmlformats.org/officeDocument/2006/relationships/image" Target="../media/image-21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image" Target="../media/image-5-4.png"/><Relationship Id="rId3" Type="http://schemas.openxmlformats.org/officeDocument/2006/relationships/image" Target="../media/image-5-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image" Target="../media/image-29-2.jpe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7:54-d2sh16m1bb2p4onbosu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 rot="5400000">
            <a:off x="3017799" y="-3017800"/>
            <a:ext cx="6156401" cy="1219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solidFill>
            <a:srgbClr val="161616"/>
          </a:solidFill>
          <a:ln w="12700">
            <a:solidFill>
              <a:srgbClr val="09111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30466" y="5184885"/>
            <a:ext cx="6077403" cy="1501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城市低空经济空间展示平台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959231" y="5662019"/>
            <a:ext cx="2254685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汇报人：Kimi AI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83268" y="6038379"/>
            <a:ext cx="4208732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时间：2025/08/04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9-04-12:07:49-d2sh15e1bb2p4onbose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8741" y="5110209"/>
            <a:ext cx="1323439" cy="1323439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4-12:07:49-d2sh15e1bb2p4onbosf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87" y="5136798"/>
            <a:ext cx="463139" cy="463139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9-04-12:07:49-d2sh15e1bb2p4onbose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8528" y="352072"/>
            <a:ext cx="919019" cy="196608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09-04-12:07:49-d2sh15e1bb2p4onbosf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0" y="3069032"/>
            <a:ext cx="2420888" cy="2420888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09-04-12:07:49-d2sh15e1bb2p4onbosg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0216" y="5231637"/>
            <a:ext cx="635000" cy="3683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01764" y="0"/>
            <a:ext cx="2916401" cy="6858000"/>
          </a:xfrm>
          <a:custGeom>
            <a:avLst/>
            <a:gdLst/>
            <a:ahLst/>
            <a:cxnLst/>
            <a:rect l="l" t="t" r="r" b="b"/>
            <a:pathLst>
              <a:path w="2916401" h="6858000">
                <a:moveTo>
                  <a:pt x="0" y="0"/>
                </a:moveTo>
                <a:lnTo>
                  <a:pt x="1310838" y="0"/>
                </a:lnTo>
                <a:lnTo>
                  <a:pt x="1453357" y="123454"/>
                </a:lnTo>
                <a:cubicBezTo>
                  <a:pt x="2352136" y="940343"/>
                  <a:pt x="2916401" y="2118776"/>
                  <a:pt x="2916401" y="3429000"/>
                </a:cubicBezTo>
                <a:cubicBezTo>
                  <a:pt x="2916401" y="4739224"/>
                  <a:pt x="2352136" y="5917657"/>
                  <a:pt x="1453357" y="6734546"/>
                </a:cubicBezTo>
                <a:lnTo>
                  <a:pt x="1310838" y="6858000"/>
                </a:lnTo>
                <a:lnTo>
                  <a:pt x="220806" y="6858000"/>
                </a:lnTo>
                <a:lnTo>
                  <a:pt x="224168" y="6856279"/>
                </a:lnTo>
                <a:cubicBezTo>
                  <a:pt x="1419763" y="6206792"/>
                  <a:pt x="2231395" y="4940069"/>
                  <a:pt x="2231395" y="3483779"/>
                </a:cubicBezTo>
                <a:cubicBezTo>
                  <a:pt x="2231395" y="1961294"/>
                  <a:pt x="1344301" y="646001"/>
                  <a:pt x="58792" y="26579"/>
                </a:cubicBezTo>
                <a:close/>
              </a:path>
            </a:pathLst>
          </a:custGeom>
          <a:solidFill>
            <a:srgbClr val="F3F3F7"/>
          </a:solidFill>
          <a:ln/>
        </p:spPr>
      </p:sp>
      <p:sp>
        <p:nvSpPr>
          <p:cNvPr id="3" name="Shape 1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solidFill>
            <a:srgbClr val="D2F9E9"/>
          </a:solidFill>
          <a:ln/>
        </p:spPr>
      </p:sp>
      <p:sp>
        <p:nvSpPr>
          <p:cNvPr id="4" name="Shape 2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solidFill>
            <a:srgbClr val="8FABDB"/>
          </a:solidFill>
          <a:ln/>
        </p:spPr>
      </p:sp>
      <p:sp>
        <p:nvSpPr>
          <p:cNvPr id="5" name="Shape 3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solidFill>
            <a:srgbClr val="B3C5E6"/>
          </a:solidFill>
          <a:ln/>
        </p:spPr>
      </p:sp>
      <p:sp>
        <p:nvSpPr>
          <p:cNvPr id="6" name="Shape 4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solidFill>
            <a:srgbClr val="B2D0E3"/>
          </a:solidFill>
          <a:ln/>
        </p:spPr>
      </p:sp>
      <p:sp>
        <p:nvSpPr>
          <p:cNvPr id="7" name="Shape 5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solidFill>
            <a:srgbClr val="B7DBE3"/>
          </a:solidFill>
          <a:ln/>
        </p:spPr>
      </p:sp>
      <p:sp>
        <p:nvSpPr>
          <p:cNvPr id="8" name="Shape 6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solidFill>
            <a:srgbClr val="BAE3E1"/>
          </a:solidFill>
          <a:ln/>
        </p:spPr>
      </p:sp>
      <p:sp>
        <p:nvSpPr>
          <p:cNvPr id="9" name="Shape 7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solidFill>
            <a:srgbClr val="BEEDE1"/>
          </a:solidFill>
          <a:ln/>
        </p:spPr>
      </p:sp>
      <p:sp>
        <p:nvSpPr>
          <p:cNvPr id="10" name="Shape 8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solidFill>
            <a:srgbClr val="C9F7E4"/>
          </a:solidFill>
          <a:ln/>
        </p:spPr>
      </p:sp>
      <p:sp>
        <p:nvSpPr>
          <p:cNvPr id="11" name="Shape 9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solidFill>
            <a:srgbClr val="DEFAEF"/>
          </a:solidFill>
          <a:ln/>
        </p:spPr>
      </p:sp>
      <p:sp>
        <p:nvSpPr>
          <p:cNvPr id="12" name="Shape 10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solidFill>
            <a:srgbClr val="E2FAF1"/>
          </a:solidFill>
          <a:ln/>
        </p:spPr>
      </p:sp>
      <p:sp>
        <p:nvSpPr>
          <p:cNvPr id="13" name="Shape 11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solidFill>
            <a:srgbClr val="EBFD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solidFill>
            <a:srgbClr val="F1FEF8"/>
          </a:solidFill>
          <a:ln/>
        </p:spPr>
      </p:sp>
      <p:sp>
        <p:nvSpPr>
          <p:cNvPr id="15" name="Shape 13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solidFill>
            <a:srgbClr val="F7FFFB"/>
          </a:solidFill>
          <a:ln/>
        </p:spPr>
      </p:sp>
      <p:sp>
        <p:nvSpPr>
          <p:cNvPr id="16" name="Shape 14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solidFill>
            <a:srgbClr val="9DB4E0"/>
          </a:solidFill>
          <a:ln/>
        </p:spPr>
      </p:sp>
      <p:pic>
        <p:nvPicPr>
          <p:cNvPr id="17" name="Image 0" descr="https://kimi-img.moonshot.cn/pub/slides/slides_tmpl/image/25-09-04-12:07:49-d2sh15e1bb2p4onbosi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7547" y="904096"/>
            <a:ext cx="6311900" cy="5511800"/>
          </a:xfrm>
          <a:prstGeom prst="rect">
            <a:avLst/>
          </a:prstGeom>
        </p:spPr>
      </p:pic>
      <p:pic>
        <p:nvPicPr>
          <p:cNvPr id="18" name="Image 1" descr="https://kimi-img.moonshot.cn/pub/slides/slides_tmpl/image/25-09-04-12:07:49-d2sh15e1bb2p4onbosgg.png">    </p:cNvPr>
          <p:cNvPicPr>
            <a:picLocks noChangeAspect="1"/>
          </p:cNvPicPr>
          <p:nvPr/>
        </p:nvPicPr>
        <p:blipFill>
          <a:blip r:embed="rId2"/>
          <a:srcRect l="0" r="0" t="26508" b="0"/>
          <a:stretch/>
        </p:blipFill>
        <p:spPr>
          <a:xfrm>
            <a:off x="263525" y="975171"/>
            <a:ext cx="3962400" cy="1661349"/>
          </a:xfrm>
          <a:prstGeom prst="rect">
            <a:avLst/>
          </a:prstGeom>
        </p:spPr>
      </p:pic>
      <p:pic>
        <p:nvPicPr>
          <p:cNvPr id="19" name="Image 2" descr="https://kimi-img.moonshot.cn/pub/slides/slides_tmpl/image/25-09-04-12:07:49-d2sh15e1bb2p4onbosgg.png">    </p:cNvPr>
          <p:cNvPicPr>
            <a:picLocks noChangeAspect="1"/>
          </p:cNvPicPr>
          <p:nvPr/>
        </p:nvPicPr>
        <p:blipFill>
          <a:blip r:embed="rId3"/>
          <a:srcRect l="0" r="0" t="0" b="95767"/>
          <a:stretch/>
        </p:blipFill>
        <p:spPr>
          <a:xfrm>
            <a:off x="263525" y="741045"/>
            <a:ext cx="3962400" cy="956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93789" y="2809287"/>
            <a:ext cx="2910694" cy="3623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立题与底座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017954" y="2809287"/>
            <a:ext cx="2910694" cy="3623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系统工程能力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693789" y="5752134"/>
            <a:ext cx="2910694" cy="3623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七大功能模块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008488" y="5752134"/>
            <a:ext cx="2910694" cy="3623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联动与收尾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149" y="1514766"/>
            <a:ext cx="3553131" cy="34484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0" dirty="0">
                <a:solidFill>
                  <a:srgbClr val="9DB4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2455" y="5848985"/>
            <a:ext cx="5887085" cy="5633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立题与底座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5" name="Image 0" descr="https://kimi-img.moonshot.cn/pub/slides/slides_tmpl/image/25-09-04-12:07:50-d2sh15m1bb2p4onbosj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09-04-12:07:49-d2sh15e1bb2p4onbosig.png">    </p:cNvPr>
          <p:cNvPicPr>
            <a:picLocks noChangeAspect="1"/>
          </p:cNvPicPr>
          <p:nvPr/>
        </p:nvPicPr>
        <p:blipFill>
          <a:blip r:embed="rId2"/>
          <a:srcRect l="0" r="60768" t="0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41728"/>
          </a:xfrm>
          <a:prstGeom prst="rect">
            <a:avLst/>
          </a:prstGeom>
          <a:gradFill rotWithShape="1" flip="none">
            <a:gsLst>
              <a:gs pos="0">
                <a:srgbClr val="2F5596"/>
              </a:gs>
              <a:gs pos="27000">
                <a:srgbClr val="7095BC"/>
              </a:gs>
              <a:gs pos="72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pic>
        <p:nvPicPr>
          <p:cNvPr id="3" name="Image 0" descr="https://kimi-img.moonshot.cn/pub/slides/slides_tmpl/image/25-09-04-12:07:55-d2sh16u1bb2p4onbot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16202"/>
            <a:ext cx="12192000" cy="26255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5960" y="738505"/>
            <a:ext cx="9124950" cy="7030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AI+GIS驱动的低空经济空间分析平台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056440" y="983258"/>
            <a:ext cx="1106564" cy="0"/>
          </a:xfrm>
          <a:prstGeom prst="straightConnector1">
            <a:avLst/>
          </a:prstGeom>
          <a:noFill/>
          <a:ln w="1587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6" name="Text 3"/>
          <p:cNvSpPr/>
          <p:nvPr/>
        </p:nvSpPr>
        <p:spPr>
          <a:xfrm>
            <a:off x="695960" y="1735455"/>
            <a:ext cx="5632450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5960" y="2493010"/>
            <a:ext cx="5067935" cy="10534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面向武汉超大城市低空经济场景，构建AI+GIS驱动的城市经济空间分析与低空航线仿真平台，实现从二维地图到三维立体空间的完整表达。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56045" y="1749425"/>
            <a:ext cx="5152390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核心理念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56045" y="2493010"/>
            <a:ext cx="5067935" cy="10534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不是做一张武汉地图，而是将低空无人机观测、城市经济活力、商圈与人口消费纳入同一套可交互、可扩展的工程系统，完成空间分析闭环。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8:03-d2sh18u1bb2p4onbote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4680" y="-27384"/>
            <a:ext cx="12232332" cy="6959798"/>
          </a:xfrm>
          <a:prstGeom prst="rect">
            <a:avLst/>
          </a:prstGeom>
          <a:solidFill>
            <a:srgbClr val="333F4F">
              <a:alpha val="47843"/>
            </a:srgbClr>
          </a:solidFill>
          <a:ln/>
        </p:spPr>
      </p:sp>
      <p:pic>
        <p:nvPicPr>
          <p:cNvPr id="4" name="Image 1" descr="https://kimi-img.moonshot.cn/pub/slides/slides_tmpl/image/25-09-04-12:07:56-d2sh1761bb2p4onbot7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49080"/>
            <a:ext cx="12192000" cy="1561981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 rot="10800000">
            <a:off x="1948002" y="4932990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Shape 2"/>
          <p:cNvSpPr/>
          <p:nvPr/>
        </p:nvSpPr>
        <p:spPr>
          <a:xfrm>
            <a:off x="1948003" y="4767462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7" name="Shape 3"/>
          <p:cNvSpPr/>
          <p:nvPr/>
        </p:nvSpPr>
        <p:spPr>
          <a:xfrm rot="10800000">
            <a:off x="5928324" y="3759222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5928325" y="3593694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9" name="Shape 5"/>
          <p:cNvSpPr/>
          <p:nvPr/>
        </p:nvSpPr>
        <p:spPr>
          <a:xfrm rot="10800000">
            <a:off x="9908654" y="4386616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9908655" y="4221088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1" name="Text 7"/>
          <p:cNvSpPr/>
          <p:nvPr/>
        </p:nvSpPr>
        <p:spPr>
          <a:xfrm>
            <a:off x="1858496" y="5783053"/>
            <a:ext cx="8352928" cy="7645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低空经济与城市空间治理双重需求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699956" y="5462750"/>
            <a:ext cx="792088" cy="535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4079776" y="1107270"/>
            <a:ext cx="0" cy="2740316"/>
          </a:xfrm>
          <a:prstGeom prst="straightConnector1">
            <a:avLst/>
          </a:prstGeom>
          <a:noFill/>
          <a:ln w="31750">
            <a:solidFill>
              <a:srgbClr val="C2F5E1">
                <a:alpha val="38824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8060105" y="963760"/>
            <a:ext cx="0" cy="2740316"/>
          </a:xfrm>
          <a:prstGeom prst="straightConnector1">
            <a:avLst/>
          </a:prstGeom>
          <a:noFill/>
          <a:ln w="31750">
            <a:solidFill>
              <a:srgbClr val="C2F5E1">
                <a:alpha val="38824"/>
              </a:srgbClr>
            </a:solidFill>
            <a:prstDash val="solid"/>
            <a:headEnd type="none"/>
            <a:tailEnd type="triangle"/>
          </a:ln>
        </p:spPr>
      </p:sp>
      <p:pic>
        <p:nvPicPr>
          <p:cNvPr id="15" name="Image 2" descr="https://kimi-img.moonshot.cn/pub/slides/slides_tmpl/image/25-09-04-12:07:56-d2sh1761bb2p4onbot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985" y="1536700"/>
            <a:ext cx="718185" cy="546100"/>
          </a:xfrm>
          <a:prstGeom prst="rect">
            <a:avLst/>
          </a:prstGeom>
        </p:spPr>
      </p:pic>
      <p:pic>
        <p:nvPicPr>
          <p:cNvPr id="16" name="Image 3" descr="https://kimi-img.moonshot.cn/pub/slides/slides_tmpl/image/25-09-04-12:07:56-d2sh1761bb2p4onbot6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270" y="234950"/>
            <a:ext cx="764540" cy="581025"/>
          </a:xfrm>
          <a:prstGeom prst="rect">
            <a:avLst/>
          </a:prstGeom>
        </p:spPr>
      </p:pic>
      <p:pic>
        <p:nvPicPr>
          <p:cNvPr id="17" name="Image 4" descr="https://kimi-img.moonshot.cn/pub/slides/slides_tmpl/image/25-09-04-12:07:56-d2sh1761bb2p4onbot6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335" y="982980"/>
            <a:ext cx="717550" cy="54546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54330" y="2011045"/>
            <a:ext cx="3538220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低空经济分析需求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577850" y="2434590"/>
            <a:ext cx="3090545" cy="12513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低空经济发展需对空域、建筑、商业、人流进行联合分析，现有工具难以同时表达低空运行与经济空间双重维度。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4079875" y="765810"/>
            <a:ext cx="3979545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武汉城市复杂性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468495" y="1188720"/>
            <a:ext cx="3231515" cy="955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武汉作为超大城市，商圈、枢纽、产业带空间关系复杂，亟需精细化空间治理工具支撑低空经济决策。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8275320" y="1451610"/>
            <a:ext cx="3448685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平台升级方向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8431530" y="1874520"/>
            <a:ext cx="3185160" cy="12513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从传统看地图升级为看低空经济运行，聚焦武汉单一研究范围，避免省级数据分散，提升分析精度。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45608" y="0"/>
            <a:ext cx="2122800" cy="1916832"/>
          </a:xfrm>
          <a:prstGeom prst="rect">
            <a:avLst/>
          </a:prstGeom>
          <a:gradFill rotWithShape="1" flip="none">
            <a:gsLst>
              <a:gs pos="0">
                <a:srgbClr val="9DB4E1"/>
              </a:gs>
              <a:gs pos="100000">
                <a:srgbClr val="C2F5E1"/>
              </a:gs>
            </a:gsLst>
            <a:lin ang="4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83905" y="1180673"/>
            <a:ext cx="3956100" cy="13719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七大模块构建完整分析能力体系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09-04-12:07:54-d2sh16m1bb2p4onbot0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729" y="1081968"/>
            <a:ext cx="3501871" cy="52610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776520" y="4784347"/>
            <a:ext cx="723458" cy="1574168"/>
          </a:xfrm>
          <a:prstGeom prst="rect">
            <a:avLst/>
          </a:prstGeom>
          <a:gradFill rotWithShape="1" flip="none">
            <a:gsLst>
              <a:gs pos="0">
                <a:srgbClr val="C2F5E1"/>
              </a:gs>
              <a:gs pos="28000">
                <a:srgbClr val="C2F5E1"/>
              </a:gs>
              <a:gs pos="100000">
                <a:srgbClr val="9DB4E1"/>
              </a:gs>
            </a:gsLst>
            <a:lin ang="24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693385" y="2907605"/>
            <a:ext cx="6482735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模块体系架构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3385" y="3435091"/>
            <a:ext cx="3324607" cy="20440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平台包含1个门户首页、7个专题模块和统一工作台，涵盖空间总览、三维城市、经济活力、商圈识别、人口消费、经济动态、低空数据七大核心能力。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21175" y="2902585"/>
            <a:ext cx="3612515" cy="4051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技术底座设计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299411" y="3435091"/>
            <a:ext cx="3324607" cy="17138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采用Vue 3 SPA架构，Leaflet二维分析与Cesium三维仿真双引擎驱动，开放空间数据与仿真经济数据形成完整演示闭环，模块可独立演进。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911225" y="5516880"/>
            <a:ext cx="10132060" cy="8343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四层架构支撑真实业务系统搭建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9416" y="697741"/>
            <a:ext cx="585125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2F5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9470" y="1102360"/>
            <a:ext cx="4965065" cy="4146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展示层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9416" y="1578869"/>
            <a:ext cx="5256584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Vue 3 + Vite + TypeScript + Leaflet + Cesium，构建二三维一体化交互界面。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63916" y="697741"/>
            <a:ext cx="585125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2F5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63970" y="1102360"/>
            <a:ext cx="4965065" cy="4146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分析层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3916" y="1578869"/>
            <a:ext cx="5256584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活力模型、商圈聚类、时序动态、航线优化四大核心算法模块独立封装。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9416" y="2906906"/>
            <a:ext cx="585125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2F5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9470" y="3311525"/>
            <a:ext cx="5161915" cy="454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服务层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9416" y="3716279"/>
            <a:ext cx="5256584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gisDataService实现API优先、Mock回退双通道，保障答辩离线可用。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63916" y="2906906"/>
            <a:ext cx="585125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2F5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3970" y="3311525"/>
            <a:ext cx="5161915" cy="454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3916" y="3716279"/>
            <a:ext cx="5256584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边界、道路、建筑、DEM、POI、仿真专题、航线七类数据分层管理。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3185" y="-99695"/>
            <a:ext cx="12440920" cy="7056755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/>
          <p:cNvSpPr/>
          <p:nvPr/>
        </p:nvSpPr>
        <p:spPr>
          <a:xfrm>
            <a:off x="2135505" y="546100"/>
            <a:ext cx="3051810" cy="336677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https://kimi-img.moonshot.cn/pub/slides/slides_tmpl/image/25-09-04-12:07:55-d2sh16u1bb2p4onbot3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65752" y="832007"/>
            <a:ext cx="2254593" cy="2706833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9-04-12:07:56-d2sh1761bb2p4onbot3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30462" y="832007"/>
            <a:ext cx="2254593" cy="2706833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2:07:56-d2sh1761bb2p4onbot4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44745" y="832007"/>
            <a:ext cx="2254250" cy="2706834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4-12:07:56-d2sh1761bb2p4onbot5g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858685" y="832007"/>
            <a:ext cx="2254250" cy="2706833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2178798" y="819083"/>
            <a:ext cx="2961707" cy="2719757"/>
          </a:xfrm>
          <a:prstGeom prst="rect">
            <a:avLst/>
          </a:prstGeom>
          <a:solidFill>
            <a:srgbClr val="FFFFFF">
              <a:alpha val="90980"/>
            </a:srgbClr>
          </a:solidFill>
          <a:ln/>
        </p:spPr>
      </p:sp>
      <p:sp>
        <p:nvSpPr>
          <p:cNvPr id="9" name="Text 3"/>
          <p:cNvSpPr/>
          <p:nvPr/>
        </p:nvSpPr>
        <p:spPr>
          <a:xfrm>
            <a:off x="592465" y="4391794"/>
            <a:ext cx="3896724" cy="13719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武汉多源数据体系与统一口径说明</a:t>
            </a: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4439563" y="3320027"/>
            <a:ext cx="747408" cy="578224"/>
          </a:xfrm>
          <a:prstGeom prst="rect">
            <a:avLst/>
          </a:prstGeom>
          <a:solidFill>
            <a:srgbClr val="C2F5E1"/>
          </a:solidFill>
          <a:ln/>
        </p:spPr>
      </p:sp>
      <p:sp>
        <p:nvSpPr>
          <p:cNvPr id="11" name="Shape 5"/>
          <p:cNvSpPr/>
          <p:nvPr/>
        </p:nvSpPr>
        <p:spPr>
          <a:xfrm>
            <a:off x="4707858" y="3623227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2" name="Text 6"/>
          <p:cNvSpPr/>
          <p:nvPr/>
        </p:nvSpPr>
        <p:spPr>
          <a:xfrm>
            <a:off x="2237411" y="755209"/>
            <a:ext cx="2831340" cy="3623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空间底座数据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2237105" y="1228090"/>
            <a:ext cx="2679065" cy="19411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武汉边界、道路、建筑、DEM等开放空间数据已接入，构成平台基础地理框架。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932963" y="3962809"/>
            <a:ext cx="6482734" cy="3623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专题仿真数据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069205" y="4277360"/>
            <a:ext cx="6346190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POI商业、人口消费、经济动态、无人机航线等仿真数据支撑专题分析与低空仿真。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5004214" y="5309475"/>
            <a:ext cx="6482735" cy="3623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数据口径统一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5172075" y="5572760"/>
            <a:ext cx="6314440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开放数据与仿真数据复现城市感知分析流程，智眼类数据为指标体系参考，非生产数据来源。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149" y="1514766"/>
            <a:ext cx="3553131" cy="34484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0" dirty="0">
                <a:solidFill>
                  <a:srgbClr val="9DB4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2455" y="5848985"/>
            <a:ext cx="5887085" cy="5633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系统工程能力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5" name="Image 0" descr="https://kimi-img.moonshot.cn/pub/slides/slides_tmpl/image/25-09-04-12:07:50-d2sh15m1bb2p4onbosj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09-04-12:07:49-d2sh15e1bb2p4onbosig.png">    </p:cNvPr>
          <p:cNvPicPr>
            <a:picLocks noChangeAspect="1"/>
          </p:cNvPicPr>
          <p:nvPr/>
        </p:nvPicPr>
        <p:blipFill>
          <a:blip r:embed="rId2"/>
          <a:srcRect l="0" r="60768" t="0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8:03-d2sh18u1bb2p4onboteg.jpg">    </p:cNvPr>
          <p:cNvPicPr>
            <a:picLocks noChangeAspect="1"/>
          </p:cNvPicPr>
          <p:nvPr/>
        </p:nvPicPr>
        <p:blipFill>
          <a:blip r:embed="rId1">
            <a:alphaModFix amt="52000"/>
          </a:blip>
          <a:srcRect l="0" r="0" t="0" b="0"/>
          <a:stretch/>
        </p:blipFill>
        <p:spPr>
          <a:xfrm flipH="1"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4680" y="3733171"/>
            <a:ext cx="12232332" cy="2837808"/>
          </a:xfrm>
          <a:prstGeom prst="rect">
            <a:avLst/>
          </a:prstGeom>
          <a:solidFill>
            <a:srgbClr val="404040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75293" y="1486555"/>
            <a:ext cx="236131" cy="236144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2305" y="485140"/>
            <a:ext cx="10487025" cy="885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统一工作台实现七模块协同操作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1270532"/>
            <a:ext cx="12232331" cy="2247372"/>
          </a:xfrm>
          <a:prstGeom prst="rect">
            <a:avLst/>
          </a:prstGeom>
          <a:solidFill>
            <a:srgbClr val="FFFFFF">
              <a:alpha val="47843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51957" y="1486555"/>
            <a:ext cx="236131" cy="236144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pic>
        <p:nvPicPr>
          <p:cNvPr id="8" name="Image 1" descr="https://kimi-img.moonshot.cn/pub/slides/slides_tmpl/image/25-09-04-12:07:57-d2sh17e1bb2p4onbotc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10" y="1386524"/>
            <a:ext cx="6985000" cy="3302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67409" y="3725815"/>
            <a:ext cx="360039" cy="637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6"/>
          <p:cNvSpPr/>
          <p:nvPr/>
        </p:nvSpPr>
        <p:spPr>
          <a:xfrm>
            <a:off x="767409" y="5807035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1" name="Shape 7"/>
          <p:cNvSpPr/>
          <p:nvPr/>
        </p:nvSpPr>
        <p:spPr>
          <a:xfrm>
            <a:off x="6789973" y="5807035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2" name="Shape 8"/>
          <p:cNvSpPr/>
          <p:nvPr/>
        </p:nvSpPr>
        <p:spPr>
          <a:xfrm>
            <a:off x="6776915" y="3725815"/>
            <a:ext cx="360039" cy="637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9"/>
          <p:cNvSpPr/>
          <p:nvPr/>
        </p:nvSpPr>
        <p:spPr>
          <a:xfrm>
            <a:off x="647700" y="1935480"/>
            <a:ext cx="5483860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界面分区设计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2169" y="2305820"/>
            <a:ext cx="5073791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顶部信息栏、全局上下文条、分析任务条、左侧导航栏、主内容区、底部状态栏六区协同。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7700" y="4386580"/>
            <a:ext cx="5464810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全局状态同步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62169" y="4756920"/>
            <a:ext cx="5073791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useGisRouterSync双向同步13个以上URL参数，改一次筛选七个模块同上下文联查。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650355" y="1935480"/>
            <a:ext cx="5483860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分析任务流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665325" y="2305820"/>
            <a:ext cx="5073791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模型、识别、路径任务支持RUN、OK、固化三态流转，模拟真实业务工作流。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670040" y="4386580"/>
            <a:ext cx="5464810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演示价值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684733" y="4756920"/>
            <a:ext cx="5073791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选江汉区后切换模块，区域条件保持不变，体现跨模块分析上下文一致性。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 flip="none">
            <a:gsLst>
              <a:gs pos="0">
                <a:srgbClr val="2F5596"/>
              </a:gs>
              <a:gs pos="79000">
                <a:srgbClr val="7095BC"/>
              </a:gs>
              <a:gs pos="96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2455" y="964565"/>
            <a:ext cx="8507730" cy="6331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图层体系支撑全链路空间分析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09-04-12:07:59-d2sh17u1bb2p4onbotd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920" y="2115819"/>
            <a:ext cx="6348430" cy="48148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63285" y="1749425"/>
            <a:ext cx="5843905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统一图层管理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79160" y="2202815"/>
            <a:ext cx="5843905" cy="10534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LayerCatalog实现八类图层统一语义管理，涵盖数据源、指标、规则与单位定义，支撑全市、行政区、点选1km、框选四种空间分析模式。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63285" y="4090035"/>
            <a:ext cx="5843905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分级渲染与导出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79160" y="4543425"/>
            <a:ext cx="5843905" cy="10534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建筑视口瓦片加zoom分级渲染，道路Canvas分级加仿真连通补全，支持PNG、Markdown、SVG多格式成果导出。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149" y="1514766"/>
            <a:ext cx="3553131" cy="34484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0" dirty="0">
                <a:solidFill>
                  <a:srgbClr val="9DB4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2455" y="5848985"/>
            <a:ext cx="5887085" cy="5633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七大功能模块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5" name="Image 0" descr="https://kimi-img.moonshot.cn/pub/slides/slides_tmpl/image/25-09-04-12:07:50-d2sh15m1bb2p4onbosj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09-04-12:07:49-d2sh15e1bb2p4onbosig.png">    </p:cNvPr>
          <p:cNvPicPr>
            <a:picLocks noChangeAspect="1"/>
          </p:cNvPicPr>
          <p:nvPr/>
        </p:nvPicPr>
        <p:blipFill>
          <a:blip r:embed="rId2"/>
          <a:srcRect l="0" r="60768" t="0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7:57-d2sh17e1bb2p4onbot7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9987" y="0"/>
            <a:ext cx="467201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19987" cy="6872844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" name="Shape 1"/>
          <p:cNvSpPr/>
          <p:nvPr/>
        </p:nvSpPr>
        <p:spPr>
          <a:xfrm>
            <a:off x="5553773" y="691737"/>
            <a:ext cx="5870202" cy="5474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59768" y="1856646"/>
            <a:ext cx="4118258" cy="13719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门户首页构建平台第一印象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4-12:07:55-d2sh16u1bb2p4onbot1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257" y="1286340"/>
            <a:ext cx="635000" cy="368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3100" y="3244850"/>
            <a:ext cx="4212590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视觉主题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72843" y="3592270"/>
            <a:ext cx="3613829" cy="955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天际线、航线、热力节点构成主题视觉，融合武汉智眼副标语，传递低空经济空间分析定位。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309995" y="1484630"/>
            <a:ext cx="4384675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核心入口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310009" y="1807120"/>
            <a:ext cx="4710824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设置进入平台与查看三维场景双主按钮，引导用户快速进入空间分析工作流。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309995" y="3911600"/>
            <a:ext cx="4678045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团队展示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10009" y="4233929"/>
            <a:ext cx="4710824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项目成员施贞如、李星靓信息面板，门户加工作台双层结构适合答辩开场立题。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536" y="1196752"/>
            <a:ext cx="2042939" cy="2426331"/>
          </a:xfrm>
          <a:prstGeom prst="rect">
            <a:avLst/>
          </a:prstGeom>
          <a:solidFill>
            <a:srgbClr val="000000">
              <a:alpha val="0"/>
            </a:srgbClr>
          </a:solidFill>
          <a:ln w="85725">
            <a:gradFill rotWithShape="1" flip="none">
              <a:gsLst>
                <a:gs pos="0">
                  <a:srgbClr val="C2F5E1"/>
                </a:gs>
                <a:gs pos="20000">
                  <a:srgbClr val="AAC0E5"/>
                </a:gs>
                <a:gs pos="100000">
                  <a:srgbClr val="9DB4E1"/>
                </a:gs>
              </a:gsLst>
              <a:lin ang="7200000" scaled="1"/>
            </a:gradFill>
            <a:prstDash val="solid"/>
          </a:ln>
        </p:spPr>
      </p:sp>
      <p:pic>
        <p:nvPicPr>
          <p:cNvPr id="3" name="Image 0" descr="https://kimi-img.moonshot.cn/pub/slides/slides_tmpl/image/25-09-04-12:07:52-d2sh1661bb2p4onbosr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873" y="1407713"/>
            <a:ext cx="3092012" cy="46774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62830" y="764540"/>
            <a:ext cx="6449060" cy="13719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空间总览聚合武汉经济空间一张图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06070" y="2719643"/>
            <a:ext cx="6450272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多源叠加能力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42815" y="3141980"/>
            <a:ext cx="6713220" cy="7232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支持DEM、建筑、道路、POI、热力、经济活力六类图层叠加，区域KPI实时聚合，提供分析、对比、全局三种模式。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06070" y="4444266"/>
            <a:ext cx="6450272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底座复用设计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42815" y="4866640"/>
            <a:ext cx="6713220" cy="7232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overviewRegionStats实现区域统计与POI过滤复用，截图与Markdown报告一键导出，作为后续全部专题分析的空间底座。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7:54-d2sh16m1bb2p4onbot00.png">    </p:cNvPr>
          <p:cNvPicPr>
            <a:picLocks noChangeAspect="1"/>
          </p:cNvPicPr>
          <p:nvPr/>
        </p:nvPicPr>
        <p:blipFill>
          <a:blip r:embed="rId1"/>
          <a:srcRect l="0" r="51634" t="0" b="0"/>
          <a:stretch/>
        </p:blipFill>
        <p:spPr>
          <a:xfrm>
            <a:off x="637540" y="4911725"/>
            <a:ext cx="11061065" cy="21837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7906" y="617659"/>
            <a:ext cx="7558390" cy="7030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三维城市立体表达低空运行环境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29349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pic>
        <p:nvPicPr>
          <p:cNvPr id="5" name="Image 1" descr="https://kimi-img.moonshot.cn/pub/slides/slides_tmpl/image/25-09-04-12:07:55-d2sh16u1bb2p4onbot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50" y="4361149"/>
            <a:ext cx="2157390" cy="195757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367808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122968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3392" y="1609265"/>
            <a:ext cx="3542747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立体空间表达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37750" y="2405563"/>
            <a:ext cx="3384373" cy="955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Cesium白模建筑加经济着色渲染，时钟驱动三维航路动画，预设商圈、CBD、低空航线三种视角。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411330" y="1609265"/>
            <a:ext cx="3542747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建筑信息查询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425688" y="2405563"/>
            <a:ext cx="3384373" cy="955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点选建筑查看活力指数与商业类型，可视化建筑高度约束，服务低空场景理解。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155340" y="1609265"/>
            <a:ext cx="3542747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工程容错设计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169698" y="2405563"/>
            <a:ext cx="3384373" cy="955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WebGL失败降级机制确保其他模块正常演示，无第一人称跟随，沉浸式效果由预设视角实现。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3215680" y="1182980"/>
            <a:ext cx="1584176" cy="3060160"/>
          </a:xfrm>
          <a:custGeom>
            <a:avLst/>
            <a:gdLst/>
            <a:ahLst/>
            <a:cxnLst/>
            <a:rect l="l" t="t" r="r" b="b"/>
            <a:pathLst>
              <a:path w="1584176" h="3060160">
                <a:moveTo>
                  <a:pt x="0" y="0"/>
                </a:moveTo>
                <a:lnTo>
                  <a:pt x="1584176" y="0"/>
                </a:lnTo>
                <a:lnTo>
                  <a:pt x="1584176" y="115069"/>
                </a:lnTo>
                <a:lnTo>
                  <a:pt x="1584176" y="249136"/>
                </a:lnTo>
                <a:lnTo>
                  <a:pt x="1584176" y="3060160"/>
                </a:lnTo>
                <a:lnTo>
                  <a:pt x="1160548" y="3060160"/>
                </a:lnTo>
                <a:lnTo>
                  <a:pt x="1160548" y="249136"/>
                </a:lnTo>
                <a:lnTo>
                  <a:pt x="0" y="249136"/>
                </a:lnTo>
                <a:close/>
              </a:path>
            </a:pathLst>
          </a:custGeom>
          <a:gradFill rotWithShape="1" flip="none">
            <a:gsLst>
              <a:gs pos="0">
                <a:srgbClr val="3A4F72"/>
              </a:gs>
              <a:gs pos="67000">
                <a:srgbClr val="7EA2AA"/>
              </a:gs>
              <a:gs pos="100000">
                <a:srgbClr val="C2F5E1"/>
              </a:gs>
            </a:gsLst>
            <a:lin ang="54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623392" y="4659597"/>
            <a:ext cx="4425189" cy="13719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低空观测因子耦合经济活力模型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44272" y="843214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pic>
        <p:nvPicPr>
          <p:cNvPr id="6" name="Image 0" descr="https://kimi-img.moonshot.cn/pub/slides/slides_tmpl/image/25-09-04-12:07:57-d2sh17e1bb2p4onbot8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636" y="1429732"/>
            <a:ext cx="1812087" cy="1180827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09-04-12:07:57-d2sh17e1bb2p4onbot9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36" y="1418626"/>
            <a:ext cx="1812088" cy="1177204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4-12:07:57-d2sh17e1bb2p4onbotb0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2895" y="2889263"/>
            <a:ext cx="3828929" cy="1353877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82895" y="3843470"/>
            <a:ext cx="423820" cy="399670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10" name="Shape 5"/>
          <p:cNvSpPr/>
          <p:nvPr/>
        </p:nvSpPr>
        <p:spPr>
          <a:xfrm>
            <a:off x="8544272" y="3804009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268637" y="843214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268637" y="3799372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67408" y="4066765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4" name="Text 9"/>
          <p:cNvSpPr/>
          <p:nvPr/>
        </p:nvSpPr>
        <p:spPr>
          <a:xfrm>
            <a:off x="5340644" y="901706"/>
            <a:ext cx="2983571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四因子模型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340350" y="1605280"/>
            <a:ext cx="3172460" cy="955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人流、POI、交通、无人机四类因子，权重滑条即时重绘加自动归一化。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616279" y="901706"/>
            <a:ext cx="2983571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分析输出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616315" y="1605280"/>
            <a:ext cx="3162300" cy="955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750m格网、行政区TOP6排名、因子贡献拆解，多尺度呈现经济活力分布。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340644" y="3857864"/>
            <a:ext cx="2983571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创新核心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340350" y="4561840"/>
            <a:ext cx="3204210" cy="955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无人机作为精细尺度观测因子，质量达标可提升活力精度，与低空页双向联动。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616279" y="3862501"/>
            <a:ext cx="2983571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工程实现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616315" y="4566285"/>
            <a:ext cx="3131820" cy="955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normalizeWeights加vitalityModel纯函数模型，pushTask模拟异步分析任务。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47971" y="819082"/>
            <a:ext cx="4677917" cy="549023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663575" y="5517515"/>
            <a:ext cx="6209030" cy="7804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空间聚类识别商圈结构与边界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09-04-12:07:52-d2sh1661bb2p4onbosp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445" y="1597073"/>
            <a:ext cx="4697341" cy="264225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7408" y="1597073"/>
            <a:ext cx="1030037" cy="631057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6" name="Shape 3"/>
          <p:cNvSpPr/>
          <p:nvPr/>
        </p:nvSpPr>
        <p:spPr>
          <a:xfrm>
            <a:off x="1127448" y="1916832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6892290" y="1269365"/>
            <a:ext cx="4576445" cy="7181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聚类参数配置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24688" y="2030506"/>
            <a:ext cx="4263303" cy="955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支持聚类阈值、最小POI数、七类业态筛选，输出商圈面、置信度、人流与活力等级，实现商业空间结构识别。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82130" y="4077335"/>
            <a:ext cx="4504055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对比与导出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24688" y="4540101"/>
            <a:ext cx="4263303" cy="955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A/B商圈对比分析联动人口消费评估，SVG结构图导出，poiDistrictClusters.ts实现聚类与模型结果合并。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F2F3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31221"/>
            <a:ext cx="911424" cy="637939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4" name="Shape 2"/>
          <p:cNvSpPr/>
          <p:nvPr/>
        </p:nvSpPr>
        <p:spPr>
          <a:xfrm>
            <a:off x="10908342" y="5594566"/>
            <a:ext cx="802312" cy="475550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5" name="Text 3"/>
          <p:cNvSpPr/>
          <p:nvPr/>
        </p:nvSpPr>
        <p:spPr>
          <a:xfrm>
            <a:off x="505399" y="713663"/>
            <a:ext cx="3956100" cy="13719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人口消费提供需求侧空间依据</a:t>
            </a:r>
            <a:endParaRPr lang="en-US" sz="1600" dirty="0"/>
          </a:p>
        </p:txBody>
      </p:sp>
      <p:pic>
        <p:nvPicPr>
          <p:cNvPr id="6" name="Image 0" descr="https://kimi-img.moonshot.cn/pub/slides/slides_tmpl/image/25-09-04-12:07:55-d2sh16u1bb2p4onbot2g.png">    </p:cNvPr>
          <p:cNvPicPr>
            <a:picLocks noChangeAspect="1"/>
          </p:cNvPicPr>
          <p:nvPr/>
        </p:nvPicPr>
        <p:blipFill>
          <a:blip r:embed="rId1"/>
          <a:srcRect l="127" r="127" t="0" b="0"/>
          <a:stretch/>
        </p:blipFill>
        <p:spPr>
          <a:xfrm>
            <a:off x="4254348" y="1660800"/>
            <a:ext cx="3802640" cy="48416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1160" y="3639971"/>
            <a:ext cx="3904615" cy="564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分级设色展示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1160" y="4231221"/>
            <a:ext cx="3627120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人口密度与消费潜力分级设色，直观呈现需求侧空间分布特征。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00240" y="1004570"/>
            <a:ext cx="4710430" cy="4756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 algn="r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区域对比分析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66844" y="1475294"/>
            <a:ext cx="3643810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A/B区域对比卡加地图点选，近6期人口、经济、活力三柱趋势图支撑决策。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26120" y="3621556"/>
            <a:ext cx="3522980" cy="511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模块联动设计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86047" y="4231221"/>
            <a:ext cx="3324607" cy="955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月份与全局时间联动，支持从商圈页URL带参跳转，为低空配送、选址提供需求侧依据。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967105" y="5513705"/>
            <a:ext cx="7889240" cy="11220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小时级热力揭示经济时空演化规律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09-04-12:07:53-d2sh16e1bb2p4onboss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913" y="1053031"/>
            <a:ext cx="3472004" cy="3151189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9-04-12:07:52-d2sh1661bb2p4onbosq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529590"/>
            <a:ext cx="1064260" cy="94107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2:07:52-d2sh1661bb2p4onbosr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2661920"/>
            <a:ext cx="1064260" cy="94107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99856" y="1185108"/>
            <a:ext cx="6482735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多周期热力播放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4799965" y="1590040"/>
            <a:ext cx="6997065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支持昼夜、周内、节假日三种周期的小时级热力播放，历史切片与准实时流数据结合，固定人流车流融合指标。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799855" y="3292048"/>
            <a:ext cx="6482735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峰值定位与同步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799965" y="3696970"/>
            <a:ext cx="6996430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24小时曲线峰值定位加A/B日期对比，时间槽位与gis.timeSlotIndex全局同步，实现从空间分布到时间演化的延伸。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7:56-d2sh1761bb2p4onbot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668" y="3158118"/>
            <a:ext cx="7772400" cy="31844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7375" y="548640"/>
            <a:ext cx="7248525" cy="7030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Source Han Sans SC Bold" pitchFamily="34" charset="0"/>
                <a:ea typeface="Source Han Sans SC Bold" pitchFamily="34" charset="-122"/>
                <a:cs typeface="Source Han Sans SC Bold" pitchFamily="34" charset="-120"/>
              </a:rPr>
              <a:t>经济场景驱动无人机航线设计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87195" y="2276872"/>
            <a:ext cx="6588925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五类经济场景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87375" y="2681605"/>
            <a:ext cx="5427980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夜间商圈、枢纽物流、产业园、江滩文旅、应急五类场景航线，绑定真实低空经济任务。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05165" y="842010"/>
            <a:ext cx="3493135" cy="3771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航线元数据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05387" y="1246654"/>
            <a:ext cx="3430797" cy="955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航线列表展示质量、高度、速度、覆盖、状态等结构化元数据，支持地图叠加显示。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05165" y="3731260"/>
            <a:ext cx="3500755" cy="2863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模型联动开关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05387" y="4064164"/>
            <a:ext cx="3430797" cy="955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参与活力、商圈模型开关控制，UavRoute结构化元数据加Mock、API统一读取。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>
            <a:alpha val="4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7:53-d2sh16e1bb2p4onbost0.png">    </p:cNvPr>
          <p:cNvPicPr>
            <a:picLocks noChangeAspect="1"/>
          </p:cNvPicPr>
          <p:nvPr/>
        </p:nvPicPr>
        <p:blipFill>
          <a:blip r:embed="rId1"/>
          <a:srcRect l="0" r="0" t="35461" b="0"/>
          <a:stretch/>
        </p:blipFill>
        <p:spPr>
          <a:xfrm>
            <a:off x="-957580" y="1616075"/>
            <a:ext cx="14110335" cy="52419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435" y="620713"/>
            <a:ext cx="10944225" cy="7030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双目标优化低空航线路径方案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4-12:07:53-d2sh16e1bb2p4onbost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61045" y="2195814"/>
            <a:ext cx="2989665" cy="154914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28892" y="4079855"/>
            <a:ext cx="270304" cy="270319"/>
          </a:xfrm>
          <a:prstGeom prst="ellipse">
            <a:avLst/>
          </a:prstGeom>
          <a:solidFill>
            <a:srgbClr val="000000">
              <a:alpha val="0"/>
            </a:srgbClr>
          </a:solidFill>
          <a:ln w="92075">
            <a:solidFill>
              <a:srgbClr val="9DB4E1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474237" y="4079855"/>
            <a:ext cx="270304" cy="270319"/>
          </a:xfrm>
          <a:prstGeom prst="ellipse">
            <a:avLst/>
          </a:prstGeom>
          <a:solidFill>
            <a:srgbClr val="000000">
              <a:alpha val="0"/>
            </a:srgbClr>
          </a:solidFill>
          <a:ln w="92075">
            <a:solidFill>
              <a:srgbClr val="9DB4E1"/>
            </a:solidFill>
            <a:prstDash val="solid"/>
          </a:ln>
        </p:spPr>
      </p:sp>
      <p:pic>
        <p:nvPicPr>
          <p:cNvPr id="7" name="Image 2" descr="https://kimi-img.moonshot.cn/pub/slides/slides_tmpl/image/25-09-04-12:07:54-d2sh16m1bb2p4onbosu0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86337" y="2188285"/>
            <a:ext cx="2613513" cy="1530702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4-12:07:54-d2sh16m1bb2p4onbosvg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291" y="2182214"/>
            <a:ext cx="2599731" cy="1522629"/>
          </a:xfrm>
          <a:prstGeom prst="rect">
            <a:avLst/>
          </a:prstGeom>
        </p:spPr>
      </p:pic>
      <p:pic>
        <p:nvPicPr>
          <p:cNvPr id="9" name="Image 4" descr="https://kimi-img.moonshot.cn/pub/slides/slides_tmpl/image/25-09-04-12:07:54-d2sh16m1bb2p4onbosv0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8102" y="2199944"/>
            <a:ext cx="2274362" cy="155615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-96688" y="4140646"/>
            <a:ext cx="6482735" cy="5633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三策略优化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388566" y="4737408"/>
            <a:ext cx="5512227" cy="7232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安全巡航、覆盖优先、效率优先三种策略，支持经济锚点贴合与路径平滑简化，兼顾经济与安全双目标。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5640084" y="4140646"/>
            <a:ext cx="6482735" cy="5633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量化指标体系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6125338" y="4737408"/>
            <a:ext cx="5512227" cy="10534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预计航程、时长、覆盖率、风险、航程变化五项指标可量化评估，optimizeRouteWaypoints纯前端算法实现。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526" y="1951672"/>
            <a:ext cx="3780821" cy="13719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航拍影像仿真构建低空场景闭环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09-04-12:07:57-d2sh17e1bb2p4onbot8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4577" y="325045"/>
            <a:ext cx="4174299" cy="627124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424827" y="645525"/>
            <a:ext cx="6084835" cy="5566950"/>
          </a:xfrm>
          <a:prstGeom prst="rect">
            <a:avLst/>
          </a:prstGeom>
          <a:solidFill>
            <a:srgbClr val="0D0D0D">
              <a:alpha val="72941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819575" y="1135628"/>
            <a:ext cx="363255" cy="36325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26262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082972" y="1154416"/>
            <a:ext cx="325677" cy="325677"/>
          </a:xfrm>
          <a:prstGeom prst="ellipse">
            <a:avLst/>
          </a:prstGeom>
          <a:solidFill>
            <a:srgbClr val="9DB4E1"/>
          </a:solidFill>
          <a:ln/>
        </p:spPr>
      </p:sp>
      <p:sp>
        <p:nvSpPr>
          <p:cNvPr id="7" name="Shape 4"/>
          <p:cNvSpPr/>
          <p:nvPr/>
        </p:nvSpPr>
        <p:spPr>
          <a:xfrm>
            <a:off x="2145351" y="1303561"/>
            <a:ext cx="225819" cy="1819"/>
          </a:xfrm>
          <a:prstGeom prst="straightConnector1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4672141" y="1071726"/>
            <a:ext cx="5651474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真实影像叠加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72330" y="1471930"/>
            <a:ext cx="5828030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航线真实影像底图加SVG航迹、航点、飞机模型动画，场景感远超纯线稿展示。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44526" y="3220505"/>
            <a:ext cx="5651474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D212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交互控制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44526" y="3620615"/>
            <a:ext cx="3776649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D2123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播放暂停加进度条控制，侧栏Leaflet同步Marker显示飞行状态。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72141" y="2686267"/>
            <a:ext cx="5651474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云处理流程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72330" y="3086100"/>
            <a:ext cx="5782310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接入、重建、AI识别、服务发布四阶段低空云处理，完整模拟遥感数据生产链路。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72141" y="4372060"/>
            <a:ext cx="5651474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跨页联动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72330" y="4772025"/>
            <a:ext cx="5781675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UavRoute.imageUrl支持跨页带坐标跳转三维、活力模块，形成分析闭环。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149" y="1514766"/>
            <a:ext cx="3553131" cy="34484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0" dirty="0">
                <a:solidFill>
                  <a:srgbClr val="9DB4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2455" y="5848985"/>
            <a:ext cx="5887085" cy="5633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联动与收尾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5" name="Image 0" descr="https://kimi-img.moonshot.cn/pub/slides/slides_tmpl/image/25-09-04-12:07:50-d2sh15m1bb2p4onbosj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09-04-12:07:49-d2sh15e1bb2p4onbosig.png">    </p:cNvPr>
          <p:cNvPicPr>
            <a:picLocks noChangeAspect="1"/>
          </p:cNvPicPr>
          <p:nvPr/>
        </p:nvPicPr>
        <p:blipFill>
          <a:blip r:embed="rId2"/>
          <a:srcRect l="0" r="60768" t="0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967105" y="5422900"/>
            <a:ext cx="8810625" cy="1007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从底图到仿真的全链路分析闭环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09-04-12:07:56-d2sh1761bb2p4onbot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50" y="554355"/>
            <a:ext cx="1414780" cy="1075690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9-04-12:07:56-d2sh1761bb2p4onbot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615" y="554355"/>
            <a:ext cx="1414780" cy="107569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2:07:56-d2sh1761bb2p4onbot6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890" y="559435"/>
            <a:ext cx="1414780" cy="10756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39470" y="1245870"/>
            <a:ext cx="3388360" cy="6972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空间定范围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839470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空间总览作为底图确定分析范围，为后续专题模块提供统一空间上下文。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534535" y="1245870"/>
            <a:ext cx="3388360" cy="6972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分析层层递进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534535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经济活力融入低空观测因子，商圈识别联动热区复核航线，人口消费提供需求侧支撑，经济动态补充时间维度。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161655" y="1245870"/>
            <a:ext cx="3477260" cy="5633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低空反哺模型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161655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三维城市完成立体表达，低空观测补采加航线仿真反哺分析模型，全局gisState与URL参数贯穿全链路。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45608" y="0"/>
            <a:ext cx="2122800" cy="1916832"/>
          </a:xfrm>
          <a:prstGeom prst="rect">
            <a:avLst/>
          </a:prstGeom>
          <a:gradFill rotWithShape="1" flip="none">
            <a:gsLst>
              <a:gs pos="0">
                <a:srgbClr val="9DB4E1"/>
              </a:gs>
              <a:gs pos="100000">
                <a:srgbClr val="C2F5E1"/>
              </a:gs>
            </a:gsLst>
            <a:lin ang="4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83905" y="1180673"/>
            <a:ext cx="3956100" cy="13719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接口设计支撑平滑接入真实服务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09-04-12:07:54-d2sh16m1bb2p4onbot0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729" y="1081968"/>
            <a:ext cx="3501871" cy="52610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776520" y="4784347"/>
            <a:ext cx="723458" cy="1574168"/>
          </a:xfrm>
          <a:prstGeom prst="rect">
            <a:avLst/>
          </a:prstGeom>
          <a:gradFill rotWithShape="1" flip="none">
            <a:gsLst>
              <a:gs pos="0">
                <a:srgbClr val="C2F5E1"/>
              </a:gs>
              <a:gs pos="28000">
                <a:srgbClr val="C2F5E1"/>
              </a:gs>
              <a:gs pos="100000">
                <a:srgbClr val="9DB4E1"/>
              </a:gs>
            </a:gsLst>
            <a:lin ang="24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693385" y="2907605"/>
            <a:ext cx="6482735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双通道服务层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3385" y="3435091"/>
            <a:ext cx="3324607" cy="17138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gisDataService连接Mock API端口8787与静态GeoJSON，API失败自动回退，答辩可离线进行，未来平滑接入PostGIS与模型服务。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21175" y="2902585"/>
            <a:ext cx="3612515" cy="4051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五类核心接口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299411" y="3435091"/>
            <a:ext cx="3324607" cy="17138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命名空间api/v1/hubei/聚焦武汉市，涵盖元数据、空间POI、时序感知、低空航线、模型运行五类接口，详见前后端API连接设计文档。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 flip="none">
            <a:gsLst>
              <a:gs pos="0">
                <a:srgbClr val="2F5596"/>
              </a:gs>
              <a:gs pos="56000">
                <a:srgbClr val="7095BC"/>
              </a:gs>
              <a:gs pos="91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pic>
        <p:nvPicPr>
          <p:cNvPr id="3" name="Image 0" descr="https://kimi-img.moonshot.cn/pub/slides/slides_tmpl/image/25-09-04-12:07:57-d2sh17e1bb2p4onbota0.png">    </p:cNvPr>
          <p:cNvPicPr>
            <a:picLocks noChangeAspect="1"/>
          </p:cNvPicPr>
          <p:nvPr/>
        </p:nvPicPr>
        <p:blipFill>
          <a:blip r:embed="rId1">
            <a:alphaModFix amt="76000"/>
          </a:blip>
          <a:srcRect l="0" r="0" t="0" b="0"/>
          <a:stretch/>
        </p:blipFill>
        <p:spPr>
          <a:xfrm>
            <a:off x="3454805" y="1700726"/>
            <a:ext cx="5953563" cy="51572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149" y="749211"/>
            <a:ext cx="6208735" cy="5633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创新工程双轴技术亮点总结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807968" y="3573775"/>
            <a:ext cx="504056" cy="0"/>
          </a:xfrm>
          <a:prstGeom prst="straightConnector1">
            <a:avLst/>
          </a:prstGeom>
          <a:noFill/>
          <a:ln w="15875">
            <a:solidFill>
              <a:srgbClr val="FFFFFF"/>
            </a:solidFill>
            <a:prstDash val="solid"/>
            <a:headEnd type="none"/>
            <a:tailEnd type="triangle"/>
          </a:ln>
        </p:spPr>
      </p:sp>
      <p:pic>
        <p:nvPicPr>
          <p:cNvPr id="6" name="Image 1" descr="https://kimi-img.moonshot.cn/pub/slides/slides_tmpl/image/25-09-04-12:07:57-d2sh17e1bb2p4onbot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49" y="1522310"/>
            <a:ext cx="6731000" cy="2819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425" y="2116403"/>
            <a:ext cx="4783771" cy="3930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创新亮点一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30249" y="2454957"/>
            <a:ext cx="5177719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低空观测因子耦合经济活力模型，无人机从展示图层升级为分析因子。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17425" y="4288103"/>
            <a:ext cx="4783771" cy="3930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创新亮点二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30249" y="4626657"/>
            <a:ext cx="5177719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经济场景驱动航线设计与优化，航线绑定真实低空经济任务。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22925" y="1900503"/>
            <a:ext cx="4783771" cy="3930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工程亮点一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5749" y="2239057"/>
            <a:ext cx="5177719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全局状态加URL可分享的分析上下文，13个以上参数跨页同步。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61025" y="4288103"/>
            <a:ext cx="4783771" cy="3930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工程亮点二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73849" y="4626657"/>
            <a:ext cx="5177719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统一gisDataService与图层Catalog，算法与UI解耦，任务队列加多格式导出。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3185" y="-99695"/>
            <a:ext cx="12440920" cy="7056755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Shape 1"/>
          <p:cNvSpPr/>
          <p:nvPr/>
        </p:nvSpPr>
        <p:spPr>
          <a:xfrm>
            <a:off x="2135505" y="546100"/>
            <a:ext cx="3051810" cy="336677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https://kimi-img.moonshot.cn/pub/slides/slides_tmpl/image/25-09-04-12:07:55-d2sh16u1bb2p4onbot3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65752" y="832007"/>
            <a:ext cx="2254593" cy="2706833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9-04-12:07:56-d2sh1761bb2p4onbot3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30462" y="832007"/>
            <a:ext cx="2254593" cy="2706833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2:07:56-d2sh1761bb2p4onbot4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44745" y="832007"/>
            <a:ext cx="2254250" cy="2706834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4-12:07:56-d2sh1761bb2p4onbot5g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858685" y="832007"/>
            <a:ext cx="2254250" cy="2706833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2178798" y="819083"/>
            <a:ext cx="2961707" cy="2719757"/>
          </a:xfrm>
          <a:prstGeom prst="rect">
            <a:avLst/>
          </a:prstGeom>
          <a:solidFill>
            <a:srgbClr val="FFFFFF">
              <a:alpha val="90980"/>
            </a:srgbClr>
          </a:solidFill>
          <a:ln/>
        </p:spPr>
      </p:sp>
      <p:sp>
        <p:nvSpPr>
          <p:cNvPr id="9" name="Text 3"/>
          <p:cNvSpPr/>
          <p:nvPr/>
        </p:nvSpPr>
        <p:spPr>
          <a:xfrm>
            <a:off x="592465" y="4391794"/>
            <a:ext cx="3896724" cy="13719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八分钟演示脚本与时长分配</a:t>
            </a: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4439563" y="3320027"/>
            <a:ext cx="747408" cy="578224"/>
          </a:xfrm>
          <a:prstGeom prst="rect">
            <a:avLst/>
          </a:prstGeom>
          <a:solidFill>
            <a:srgbClr val="C2F5E1"/>
          </a:solidFill>
          <a:ln/>
        </p:spPr>
      </p:sp>
      <p:sp>
        <p:nvSpPr>
          <p:cNvPr id="11" name="Shape 5"/>
          <p:cNvSpPr/>
          <p:nvPr/>
        </p:nvSpPr>
        <p:spPr>
          <a:xfrm>
            <a:off x="4707858" y="3623227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2" name="Text 6"/>
          <p:cNvSpPr/>
          <p:nvPr/>
        </p:nvSpPr>
        <p:spPr>
          <a:xfrm>
            <a:off x="2237411" y="755209"/>
            <a:ext cx="2831340" cy="3623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核心演示流程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2237105" y="1228090"/>
            <a:ext cx="2679065" cy="19411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首页开场、空间总览底座、经济活力创新、商圈结构、时空规律、航拍仿真高潮、三维联动、总结八个环节。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932963" y="3962809"/>
            <a:ext cx="6482734" cy="3623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时长分配方案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069205" y="4277360"/>
            <a:ext cx="6346190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5分钟版背景1分钟、核心3分钟、总结1分钟；8分钟版背景1分钟、架构1分钟、功能5分钟、总结1分钟。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5004214" y="5309475"/>
            <a:ext cx="6482735" cy="3623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操作要点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5172075" y="5572760"/>
            <a:ext cx="6314440" cy="6585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演示前启动5173前端，按脚本顺序预检，侧栏收起后截图更干净，突出创新点与工程实践。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41728"/>
          </a:xfrm>
          <a:prstGeom prst="rect">
            <a:avLst/>
          </a:prstGeom>
          <a:gradFill rotWithShape="1" flip="none">
            <a:gsLst>
              <a:gs pos="0">
                <a:srgbClr val="2F5596"/>
              </a:gs>
              <a:gs pos="27000">
                <a:srgbClr val="7095BC"/>
              </a:gs>
              <a:gs pos="72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pic>
        <p:nvPicPr>
          <p:cNvPr id="3" name="Image 0" descr="https://kimi-img.moonshot.cn/pub/slides/slides_tmpl/image/25-09-04-12:07:55-d2sh16u1bb2p4onbot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16202"/>
            <a:ext cx="12192000" cy="26255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5960" y="738505"/>
            <a:ext cx="9124950" cy="7030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成果总结与后续演进方向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056440" y="983258"/>
            <a:ext cx="1106564" cy="0"/>
          </a:xfrm>
          <a:prstGeom prst="straightConnector1">
            <a:avLst/>
          </a:prstGeom>
          <a:noFill/>
          <a:ln w="1587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6" name="Text 3"/>
          <p:cNvSpPr/>
          <p:nvPr/>
        </p:nvSpPr>
        <p:spPr>
          <a:xfrm>
            <a:off x="695960" y="1735455"/>
            <a:ext cx="5632450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三句成果总结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5960" y="2493010"/>
            <a:ext cx="5067935" cy="17138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面向武汉低空经济场景构建AI+GIS平台；创新上打通无人机观测、经济活力、商圈人口和时序动态形成分析闭环；工程上具备全局状态管理、API Mock双通道、模块化模型与任务工作流，已具备向真实后端平滑扩展的能力。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56045" y="1749425"/>
            <a:ext cx="5152390" cy="4934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后续演进方向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56045" y="2493010"/>
            <a:ext cx="5067935" cy="1383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当前部分数据仍为仿真、三维以白模为主；后续接入PostGIS空间查询、合规三维城市数据与3D Tiles、低空航路规划与任务调度，持续完善平台能力。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solidFill>
            <a:srgbClr val="161616"/>
          </a:solidFill>
          <a:ln/>
        </p:spPr>
      </p:sp>
      <p:pic>
        <p:nvPicPr>
          <p:cNvPr id="3" name="Image 0" descr="https://kimi-img.moonshot.cn/pub/slides/slides_tmpl/image/25-09-04-12:07:57-d2sh17e1bb2p4onbot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8617" y="1561401"/>
            <a:ext cx="4553512" cy="3552547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4-12:07:58-d2sh17m1bb2p4onbotcg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03121" y="1561401"/>
            <a:ext cx="2434092" cy="240862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884213" y="3119957"/>
            <a:ext cx="363255" cy="36325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147610" y="3138745"/>
            <a:ext cx="325677" cy="325677"/>
          </a:xfrm>
          <a:prstGeom prst="ellipse">
            <a:avLst/>
          </a:prstGeom>
          <a:solidFill>
            <a:srgbClr val="C2F4E0"/>
          </a:solidFill>
          <a:ln/>
        </p:spPr>
      </p:sp>
      <p:sp>
        <p:nvSpPr>
          <p:cNvPr id="7" name="Shape 3"/>
          <p:cNvSpPr/>
          <p:nvPr/>
        </p:nvSpPr>
        <p:spPr>
          <a:xfrm>
            <a:off x="2209989" y="3287890"/>
            <a:ext cx="225819" cy="1819"/>
          </a:xfrm>
          <a:prstGeom prst="straightConnector1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pic>
        <p:nvPicPr>
          <p:cNvPr id="8" name="Image 2" descr="https://kimi-img.moonshot.cn/pub/slides/slides_tmpl/image/25-09-04-12:07:58-d2sh17m1bb2p4onbotd0.png">    </p:cNvPr>
          <p:cNvPicPr>
            <a:picLocks noChangeAspect="1"/>
          </p:cNvPicPr>
          <p:nvPr/>
        </p:nvPicPr>
        <p:blipFill>
          <a:blip r:embed="rId3"/>
          <a:srcRect l="0" r="29701" t="0" b="29746"/>
          <a:stretch/>
        </p:blipFill>
        <p:spPr>
          <a:xfrm>
            <a:off x="654685" y="1670685"/>
            <a:ext cx="8178063" cy="37027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4237" y="5373975"/>
            <a:ext cx="2254685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汇报人：Kimi AI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48274" y="5750335"/>
            <a:ext cx="4323764" cy="4321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时间：2025/08/04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城市低空经济空间展示平台</dc:title>
  <dc:subject>城市低空经济空间展示平台</dc:subject>
  <dc:creator>Kimi</dc:creator>
  <cp:lastModifiedBy>Kimi</cp:lastModifiedBy>
  <cp:revision>1</cp:revision>
  <dcterms:created xsi:type="dcterms:W3CDTF">2026-06-03T14:21:06Z</dcterms:created>
  <dcterms:modified xsi:type="dcterms:W3CDTF">2026-06-03T14:21:06Z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城市低空经济空间展示平台","ContentProducer":"001191110108MACG2KBH8F10000","ProduceID":"19e8dd83-6d22-84dd-8000-0000f348bd3d","ReservedCode1":"","ContentPropagator":"001191110108MACG2KBH8F20000","PropagateID":"19e8dd83-6d22-84dd-8000-0000f348bd3d","ReservedCode2":""}</vt:lpwstr>
  </property>
</Properties>
</file>