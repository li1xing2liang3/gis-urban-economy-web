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" cy="914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65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3110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4A8C03-FEC9-F5B0-371A-F9B3CB6B4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149648"/>
            <a:ext cx="685800" cy="318347"/>
          </a:xfrm>
        </p:spPr>
        <p:txBody>
          <a:bodyPr anchor="b"/>
          <a:lstStyle>
            <a:lvl1pPr algn="ctr">
              <a:defRPr sz="1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41F91D-C5A4-8392-7D27-18AEE24F5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" y="480272"/>
            <a:ext cx="685800" cy="220768"/>
          </a:xfrm>
        </p:spPr>
        <p:txBody>
          <a:bodyPr/>
          <a:lstStyle>
            <a:lvl1pPr marL="0" indent="0" algn="ctr">
              <a:buNone/>
              <a:defRPr sz="100"/>
            </a:lvl1pPr>
            <a:lvl2pPr marL="4571" indent="0" algn="ctr">
              <a:buNone/>
              <a:defRPr sz="100"/>
            </a:lvl2pPr>
            <a:lvl3pPr marL="9142" indent="0" algn="ctr">
              <a:buNone/>
              <a:defRPr sz="100"/>
            </a:lvl3pPr>
            <a:lvl4pPr marL="13713" indent="0" algn="ctr">
              <a:buNone/>
              <a:defRPr sz="100"/>
            </a:lvl4pPr>
            <a:lvl5pPr marL="18283" indent="0" algn="ctr">
              <a:buNone/>
              <a:defRPr sz="100"/>
            </a:lvl5pPr>
            <a:lvl6pPr marL="22854" indent="0" algn="ctr">
              <a:buNone/>
              <a:defRPr sz="100"/>
            </a:lvl6pPr>
            <a:lvl7pPr marL="27425" indent="0" algn="ctr">
              <a:buNone/>
              <a:defRPr sz="100"/>
            </a:lvl7pPr>
            <a:lvl8pPr marL="31996" indent="0" algn="ctr">
              <a:buNone/>
              <a:defRPr sz="100"/>
            </a:lvl8pPr>
            <a:lvl9pPr marL="36567" indent="0" algn="ctr">
              <a:buNone/>
              <a:defRPr sz="1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915D4-07AC-6F0F-C232-F50BAA5A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F548DC-6DFE-3E1B-3EE1-E733DCEA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B62C50-E072-061E-B3C2-41B440B4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67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49AA6-ED84-799C-7496-721A0A75E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25F9B1-9614-87FA-E0F3-79B221738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8EAA32-D30B-888D-2F24-3DFDF93D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E420FB-7367-0300-3D40-C7E11468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025A0D-D5EC-EA18-E925-4152F305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705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1C050-3D88-792D-AC21-9BA72251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9" y="227965"/>
            <a:ext cx="788670" cy="380365"/>
          </a:xfrm>
        </p:spPr>
        <p:txBody>
          <a:bodyPr anchor="b"/>
          <a:lstStyle>
            <a:lvl1pPr>
              <a:defRPr sz="1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0B3FB2-0500-F0CF-73AC-1C89D8A43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9" y="611929"/>
            <a:ext cx="788670" cy="200025"/>
          </a:xfrm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1pPr>
            <a:lvl2pPr marL="4571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2pPr>
            <a:lvl3pPr marL="9142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3pPr>
            <a:lvl4pPr marL="1371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4pPr>
            <a:lvl5pPr marL="1828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5pPr>
            <a:lvl6pPr marL="22854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6pPr>
            <a:lvl7pPr marL="27425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7pPr>
            <a:lvl8pPr marL="31996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8pPr>
            <a:lvl9pPr marL="3656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9BEAC3-15A4-0A30-4BA2-E3A0BC72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20E9E2-7913-DDC5-D6E1-24F292DD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8B80C-97C5-8125-EAE7-705FDDE3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5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ADD99-4A1E-6DC1-FFBE-AA934A2C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18BE0-2018-247C-228D-8DC6FF616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" y="243417"/>
            <a:ext cx="388620" cy="5801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EDE0EA-A5A8-6B31-1433-D490FFFBD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" y="243417"/>
            <a:ext cx="388620" cy="5801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6C9BA5-488B-3194-0EAE-C574E362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D7B5B8-7F99-2712-C2CB-B4081B5B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660930-BBAA-33E1-3A04-C0CB2CEA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32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FFF77-36CA-5090-C8FC-869D3A50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" y="48683"/>
            <a:ext cx="788670" cy="17674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566174-02FB-DA43-DF4A-96DE47CA7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" y="224155"/>
            <a:ext cx="386834" cy="109855"/>
          </a:xfrm>
        </p:spPr>
        <p:txBody>
          <a:bodyPr anchor="b"/>
          <a:lstStyle>
            <a:lvl1pPr marL="0" indent="0">
              <a:buNone/>
              <a:defRPr sz="100" b="1"/>
            </a:lvl1pPr>
            <a:lvl2pPr marL="4571" indent="0">
              <a:buNone/>
              <a:defRPr sz="100" b="1"/>
            </a:lvl2pPr>
            <a:lvl3pPr marL="9142" indent="0">
              <a:buNone/>
              <a:defRPr sz="100" b="1"/>
            </a:lvl3pPr>
            <a:lvl4pPr marL="13713" indent="0">
              <a:buNone/>
              <a:defRPr sz="100" b="1"/>
            </a:lvl4pPr>
            <a:lvl5pPr marL="18283" indent="0">
              <a:buNone/>
              <a:defRPr sz="100" b="1"/>
            </a:lvl5pPr>
            <a:lvl6pPr marL="22854" indent="0">
              <a:buNone/>
              <a:defRPr sz="100" b="1"/>
            </a:lvl6pPr>
            <a:lvl7pPr marL="27425" indent="0">
              <a:buNone/>
              <a:defRPr sz="100" b="1"/>
            </a:lvl7pPr>
            <a:lvl8pPr marL="31996" indent="0">
              <a:buNone/>
              <a:defRPr sz="100" b="1"/>
            </a:lvl8pPr>
            <a:lvl9pPr marL="36567" indent="0">
              <a:buNone/>
              <a:defRPr sz="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9088DF-6701-240E-7B8C-CB8FD1AD8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" y="334010"/>
            <a:ext cx="386834" cy="4912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D05A9B-C7F1-8726-C470-1C313287B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6" y="224155"/>
            <a:ext cx="388739" cy="109855"/>
          </a:xfrm>
        </p:spPr>
        <p:txBody>
          <a:bodyPr anchor="b"/>
          <a:lstStyle>
            <a:lvl1pPr marL="0" indent="0">
              <a:buNone/>
              <a:defRPr sz="100" b="1"/>
            </a:lvl1pPr>
            <a:lvl2pPr marL="4571" indent="0">
              <a:buNone/>
              <a:defRPr sz="100" b="1"/>
            </a:lvl2pPr>
            <a:lvl3pPr marL="9142" indent="0">
              <a:buNone/>
              <a:defRPr sz="100" b="1"/>
            </a:lvl3pPr>
            <a:lvl4pPr marL="13713" indent="0">
              <a:buNone/>
              <a:defRPr sz="100" b="1"/>
            </a:lvl4pPr>
            <a:lvl5pPr marL="18283" indent="0">
              <a:buNone/>
              <a:defRPr sz="100" b="1"/>
            </a:lvl5pPr>
            <a:lvl6pPr marL="22854" indent="0">
              <a:buNone/>
              <a:defRPr sz="100" b="1"/>
            </a:lvl6pPr>
            <a:lvl7pPr marL="27425" indent="0">
              <a:buNone/>
              <a:defRPr sz="100" b="1"/>
            </a:lvl7pPr>
            <a:lvl8pPr marL="31996" indent="0">
              <a:buNone/>
              <a:defRPr sz="100" b="1"/>
            </a:lvl8pPr>
            <a:lvl9pPr marL="36567" indent="0">
              <a:buNone/>
              <a:defRPr sz="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255006-857C-3024-5252-88F24D979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6" y="334010"/>
            <a:ext cx="388739" cy="4912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435180-7A1E-C88D-570D-A00C0EC5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700CE8-1197-A4BC-1DAC-0C17AA009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E22C05-4E8F-679F-3211-4E6E9D11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36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774CD-0723-E5D6-5FF6-17F406360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BAD4A3-4522-39C2-7259-44D926CD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3ACF70-CEF3-1400-A816-26C6B3BE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5FD78E-6AA9-863A-F9B9-96809E6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747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75BACE-817A-6ACB-0710-75AB7AF1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BD34BF-D4D8-55D1-69C3-13563DD61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750417-7723-14E5-A657-4CC33CAE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51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B9A59-DB2A-17DF-C6AE-A28AA546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1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1F9E9-6E68-7BBE-CEF1-909657112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40" y="131657"/>
            <a:ext cx="462915" cy="649817"/>
          </a:xfrm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  <a:lvl6pPr>
              <a:defRPr sz="100"/>
            </a:lvl6pPr>
            <a:lvl7pPr>
              <a:defRPr sz="100"/>
            </a:lvl7pPr>
            <a:lvl8pPr>
              <a:defRPr sz="100"/>
            </a:lvl8pPr>
            <a:lvl9pPr>
              <a:defRPr sz="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F481EA-B1B0-20A2-584D-732EB2E2A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00"/>
            </a:lvl1pPr>
            <a:lvl2pPr marL="4571" indent="0">
              <a:buNone/>
              <a:defRPr sz="100"/>
            </a:lvl2pPr>
            <a:lvl3pPr marL="9142" indent="0">
              <a:buNone/>
              <a:defRPr sz="100"/>
            </a:lvl3pPr>
            <a:lvl4pPr marL="13713" indent="0">
              <a:buNone/>
              <a:defRPr sz="100"/>
            </a:lvl4pPr>
            <a:lvl5pPr marL="18283" indent="0">
              <a:buNone/>
              <a:defRPr sz="100"/>
            </a:lvl5pPr>
            <a:lvl6pPr marL="22854" indent="0">
              <a:buNone/>
              <a:defRPr sz="100"/>
            </a:lvl6pPr>
            <a:lvl7pPr marL="27425" indent="0">
              <a:buNone/>
              <a:defRPr sz="100"/>
            </a:lvl7pPr>
            <a:lvl8pPr marL="31996" indent="0">
              <a:buNone/>
              <a:defRPr sz="100"/>
            </a:lvl8pPr>
            <a:lvl9pPr marL="36567" indent="0">
              <a:buNone/>
              <a:defRPr sz="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2A14C8-5128-A624-2AF6-EEB90BB3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6ED1D9-CD71-E25D-E5B5-DBDCCBE39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322F51-A604-52EF-28E5-9E275472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1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47FA1-0678-78B3-C122-59A7BD656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1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4337F5-4ABA-EF1A-D36A-444D252BE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40" y="131657"/>
            <a:ext cx="462915" cy="649817"/>
          </a:xfrm>
        </p:spPr>
        <p:txBody>
          <a:bodyPr/>
          <a:lstStyle>
            <a:lvl1pPr marL="0" indent="0">
              <a:buNone/>
              <a:defRPr sz="100"/>
            </a:lvl1pPr>
            <a:lvl2pPr marL="4571" indent="0">
              <a:buNone/>
              <a:defRPr sz="100"/>
            </a:lvl2pPr>
            <a:lvl3pPr marL="9142" indent="0">
              <a:buNone/>
              <a:defRPr sz="100"/>
            </a:lvl3pPr>
            <a:lvl4pPr marL="13713" indent="0">
              <a:buNone/>
              <a:defRPr sz="100"/>
            </a:lvl4pPr>
            <a:lvl5pPr marL="18283" indent="0">
              <a:buNone/>
              <a:defRPr sz="100"/>
            </a:lvl5pPr>
            <a:lvl6pPr marL="22854" indent="0">
              <a:buNone/>
              <a:defRPr sz="100"/>
            </a:lvl6pPr>
            <a:lvl7pPr marL="27425" indent="0">
              <a:buNone/>
              <a:defRPr sz="100"/>
            </a:lvl7pPr>
            <a:lvl8pPr marL="31996" indent="0">
              <a:buNone/>
              <a:defRPr sz="100"/>
            </a:lvl8pPr>
            <a:lvl9pPr marL="36567" indent="0">
              <a:buNone/>
              <a:defRPr sz="1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0A8687-2D84-3CFD-3FA9-F60236A07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00"/>
            </a:lvl1pPr>
            <a:lvl2pPr marL="4571" indent="0">
              <a:buNone/>
              <a:defRPr sz="100"/>
            </a:lvl2pPr>
            <a:lvl3pPr marL="9142" indent="0">
              <a:buNone/>
              <a:defRPr sz="100"/>
            </a:lvl3pPr>
            <a:lvl4pPr marL="13713" indent="0">
              <a:buNone/>
              <a:defRPr sz="100"/>
            </a:lvl4pPr>
            <a:lvl5pPr marL="18283" indent="0">
              <a:buNone/>
              <a:defRPr sz="100"/>
            </a:lvl5pPr>
            <a:lvl6pPr marL="22854" indent="0">
              <a:buNone/>
              <a:defRPr sz="100"/>
            </a:lvl6pPr>
            <a:lvl7pPr marL="27425" indent="0">
              <a:buNone/>
              <a:defRPr sz="100"/>
            </a:lvl7pPr>
            <a:lvl8pPr marL="31996" indent="0">
              <a:buNone/>
              <a:defRPr sz="100"/>
            </a:lvl8pPr>
            <a:lvl9pPr marL="36567" indent="0">
              <a:buNone/>
              <a:defRPr sz="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04E49D-7C8F-5DFA-D022-9A308FFE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3BA7E1-249E-E36D-0C3F-6B898E6D1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144F33-3D3C-731B-6699-75D98D4B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38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D389D-A5C4-74A2-1DFC-04BCB63E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AF0E9E-6645-3A4F-AEE2-7C30FE135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26C534-10AB-5927-CC5B-C435C991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617784-3932-D5A4-3039-05616C77F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7ABDE0-CBA6-529D-28F2-EA52E92E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75CCAF-9687-2C78-8E25-41A3D6CC8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" y="48683"/>
            <a:ext cx="197168" cy="7749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8A0ABA-48C4-D4B9-E171-FF07627EE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6" y="48683"/>
            <a:ext cx="580073" cy="7749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DFEEE4-4AF8-27C3-E40D-83077B94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8054C3-B6ED-74C8-4A25-B0A76A7F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3A8C2D-686F-99B4-1354-BFF6E04E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681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C5FB72-049A-C38D-0459-EA5EFD760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" y="48683"/>
            <a:ext cx="78867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C41045-BE4C-3512-622C-0CDDB7AE1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" y="243417"/>
            <a:ext cx="78867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16AFE9-D56C-F3C3-8A75-8302288CA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D92D8D-92C4-4962-B974-FCFD8F16ED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F50602-E383-4819-0840-89E0E873B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" y="847514"/>
            <a:ext cx="30861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CB031C-0149-16D6-264A-FAE8BD8F8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3AD50-F164-4296-B390-15738DF87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24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" rtl="0" eaLnBrk="1" latinLnBrk="0" hangingPunct="1">
        <a:lnSpc>
          <a:spcPct val="90000"/>
        </a:lnSpc>
        <a:spcBef>
          <a:spcPct val="0"/>
        </a:spcBef>
        <a:buNone/>
        <a:defRPr sz="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" indent="-2285" algn="l" defTabSz="9142" rtl="0" eaLnBrk="1" latinLnBrk="0" hangingPunct="1">
        <a:lnSpc>
          <a:spcPct val="90000"/>
        </a:lnSpc>
        <a:spcBef>
          <a:spcPts val="10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" indent="-2285" algn="l" defTabSz="9142" rtl="0" eaLnBrk="1" latinLnBrk="0" hangingPunct="1">
        <a:lnSpc>
          <a:spcPct val="90000"/>
        </a:lnSpc>
        <a:spcBef>
          <a:spcPts val="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" algn="l" defTabSz="9142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F928918-2ADE-A0FE-0CE2-948DF8B034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9329" cy="952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DAC153F-2D8E-068D-BA30-2601C0D68BEB}"/>
              </a:ext>
            </a:extLst>
          </p:cNvPr>
          <p:cNvSpPr/>
          <p:nvPr/>
        </p:nvSpPr>
        <p:spPr>
          <a:xfrm>
            <a:off x="0" y="0"/>
            <a:ext cx="169329" cy="95250"/>
          </a:xfrm>
          <a:prstGeom prst="rect">
            <a:avLst/>
          </a:prstGeom>
          <a:solidFill>
            <a:srgbClr val="050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9EE7B5-258C-8D3E-A43A-5E01E991B4FE}"/>
              </a:ext>
            </a:extLst>
          </p:cNvPr>
          <p:cNvSpPr txBox="1"/>
          <p:nvPr/>
        </p:nvSpPr>
        <p:spPr>
          <a:xfrm>
            <a:off x="8636" y="12954"/>
            <a:ext cx="99060" cy="124033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AI+GIS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城市低空经济驱动的城市经济空间展示平台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C10C2A-1A7C-C2B6-11E9-40EA59B49B55}"/>
              </a:ext>
            </a:extLst>
          </p:cNvPr>
          <p:cNvSpPr txBox="1"/>
          <p:nvPr/>
        </p:nvSpPr>
        <p:spPr>
          <a:xfrm>
            <a:off x="9144" y="34290"/>
            <a:ext cx="86360" cy="70173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FFF6DD"/>
                </a:solidFill>
                <a:latin typeface="Microsoft YaHei" panose="020B0503020204020204" pitchFamily="34" charset="-122"/>
              </a:rPr>
              <a:t>项目展示 </a:t>
            </a:r>
            <a:r>
              <a:rPr lang="en-US" altLang="zh-CN" sz="1500">
                <a:solidFill>
                  <a:srgbClr val="FFF6DD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500">
                <a:solidFill>
                  <a:srgbClr val="FFF6DD"/>
                </a:solidFill>
                <a:latin typeface="Microsoft YaHei" panose="020B0503020204020204" pitchFamily="34" charset="-122"/>
              </a:rPr>
              <a:t>融合低空经济、武汉智眼体系参考与 </a:t>
            </a:r>
            <a:r>
              <a:rPr lang="en-US" altLang="zh-CN" sz="1500">
                <a:solidFill>
                  <a:srgbClr val="FFF6DD"/>
                </a:solidFill>
                <a:latin typeface="Microsoft YaHei" panose="020B0503020204020204" pitchFamily="34" charset="-122"/>
              </a:rPr>
              <a:t>WebGIS </a:t>
            </a:r>
            <a:r>
              <a:rPr lang="zh-CN" altLang="en-US" sz="1500">
                <a:solidFill>
                  <a:srgbClr val="FFF6DD"/>
                </a:solidFill>
                <a:latin typeface="Microsoft YaHei" panose="020B0503020204020204" pitchFamily="34" charset="-122"/>
              </a:rPr>
              <a:t>可视化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54C479-01A9-6C02-007D-2D9DA276560E}"/>
              </a:ext>
            </a:extLst>
          </p:cNvPr>
          <p:cNvSpPr txBox="1"/>
          <p:nvPr/>
        </p:nvSpPr>
        <p:spPr>
          <a:xfrm>
            <a:off x="9144" y="83185"/>
            <a:ext cx="73660" cy="24929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AC2F8"/>
                </a:solidFill>
                <a:latin typeface="Microsoft YaHei" panose="020B0503020204020204" pitchFamily="34" charset="-122"/>
              </a:rPr>
              <a:t>小组成员：施贞如、李星靓</a:t>
            </a:r>
          </a:p>
        </p:txBody>
      </p:sp>
    </p:spTree>
    <p:extLst>
      <p:ext uri="{BB962C8B-B14F-4D97-AF65-F5344CB8AC3E}">
        <p14:creationId xmlns:p14="http://schemas.microsoft.com/office/powerpoint/2010/main" val="754571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7A4FF5-FCF6-D7CC-FD6F-A320068E86A1}"/>
              </a:ext>
            </a:extLst>
          </p:cNvPr>
          <p:cNvSpPr txBox="1"/>
          <p:nvPr/>
        </p:nvSpPr>
        <p:spPr>
          <a:xfrm>
            <a:off x="5715" y="3556"/>
            <a:ext cx="15748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项目定位与展示重点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31D4CC-4421-F198-1289-7DFE25B1B408}"/>
              </a:ext>
            </a:extLst>
          </p:cNvPr>
          <p:cNvSpPr txBox="1"/>
          <p:nvPr/>
        </p:nvSpPr>
        <p:spPr>
          <a:xfrm>
            <a:off x="6096" y="10922"/>
            <a:ext cx="153670" cy="486287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从设计文档到可演示前端：一图浏览、专题分析、低空增强、结果导出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E7ADC5-78A3-1BE6-C140-1A7C8F517968}"/>
              </a:ext>
            </a:extLst>
          </p:cNvPr>
          <p:cNvSpPr/>
          <p:nvPr/>
        </p:nvSpPr>
        <p:spPr>
          <a:xfrm>
            <a:off x="10160" y="18415"/>
            <a:ext cx="149860" cy="7366"/>
          </a:xfrm>
          <a:prstGeom prst="rect">
            <a:avLst/>
          </a:prstGeom>
          <a:solidFill>
            <a:srgbClr val="0A1A28"/>
          </a:solidFill>
          <a:ln>
            <a:solidFill>
              <a:srgbClr val="1A4C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项目定位：面向城市经济空间分析的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WebGIS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展示平台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EDED20-CB7B-D45F-E60A-317C35D80D69}"/>
              </a:ext>
            </a:extLst>
          </p:cNvPr>
          <p:cNvSpPr/>
          <p:nvPr/>
        </p:nvSpPr>
        <p:spPr>
          <a:xfrm>
            <a:off x="10160" y="28321"/>
            <a:ext cx="149860" cy="7366"/>
          </a:xfrm>
          <a:prstGeom prst="rect">
            <a:avLst/>
          </a:prstGeom>
          <a:solidFill>
            <a:srgbClr val="0A1A28"/>
          </a:solidFill>
          <a:ln>
            <a:solidFill>
              <a:srgbClr val="1A4C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技术栈：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Vue 3 + Vite + Leaflet + Cesium +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静态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GeoJSON/JSON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15FB31-CFC2-38E8-FE74-7273008FE932}"/>
              </a:ext>
            </a:extLst>
          </p:cNvPr>
          <p:cNvSpPr/>
          <p:nvPr/>
        </p:nvSpPr>
        <p:spPr>
          <a:xfrm>
            <a:off x="10160" y="38227"/>
            <a:ext cx="149860" cy="7366"/>
          </a:xfrm>
          <a:prstGeom prst="rect">
            <a:avLst/>
          </a:prstGeom>
          <a:solidFill>
            <a:srgbClr val="0A1A28"/>
          </a:solidFill>
          <a:ln>
            <a:solidFill>
              <a:srgbClr val="1A4C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数据策略：湖北省界、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OSM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底图、开放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模拟专题数据，预留后端接口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149AEA-B3F9-75B4-BBAD-078C03A4FBB0}"/>
              </a:ext>
            </a:extLst>
          </p:cNvPr>
          <p:cNvSpPr/>
          <p:nvPr/>
        </p:nvSpPr>
        <p:spPr>
          <a:xfrm>
            <a:off x="10160" y="48133"/>
            <a:ext cx="149860" cy="7366"/>
          </a:xfrm>
          <a:prstGeom prst="rect">
            <a:avLst/>
          </a:prstGeom>
          <a:solidFill>
            <a:srgbClr val="0A1A28"/>
          </a:solidFill>
          <a:ln>
            <a:solidFill>
              <a:srgbClr val="1A4C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展示闭环：全局筛选、图层说明、模型任务、截图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报告导出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F0C2D2-E9FC-6509-07EF-ECE8ACE76766}"/>
              </a:ext>
            </a:extLst>
          </p:cNvPr>
          <p:cNvSpPr/>
          <p:nvPr/>
        </p:nvSpPr>
        <p:spPr>
          <a:xfrm>
            <a:off x="10160" y="58039"/>
            <a:ext cx="149860" cy="7366"/>
          </a:xfrm>
          <a:prstGeom prst="rect">
            <a:avLst/>
          </a:prstGeom>
          <a:solidFill>
            <a:srgbClr val="0A1A28"/>
          </a:solidFill>
          <a:ln>
            <a:solidFill>
              <a:srgbClr val="1A4C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特色模块：低空数据增强与经济活力模型联动</a:t>
            </a:r>
          </a:p>
        </p:txBody>
      </p:sp>
    </p:spTree>
    <p:extLst>
      <p:ext uri="{BB962C8B-B14F-4D97-AF65-F5344CB8AC3E}">
        <p14:creationId xmlns:p14="http://schemas.microsoft.com/office/powerpoint/2010/main" val="128286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363B88-5446-E09B-311F-E8C06D2D055B}"/>
              </a:ext>
            </a:extLst>
          </p:cNvPr>
          <p:cNvSpPr txBox="1"/>
          <p:nvPr/>
        </p:nvSpPr>
        <p:spPr>
          <a:xfrm>
            <a:off x="5715" y="3556"/>
            <a:ext cx="15748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首页：项目主题入口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B66551-784B-0E59-4EE1-A725BFD02D8A}"/>
              </a:ext>
            </a:extLst>
          </p:cNvPr>
          <p:cNvSpPr txBox="1"/>
          <p:nvPr/>
        </p:nvSpPr>
        <p:spPr>
          <a:xfrm>
            <a:off x="6096" y="10922"/>
            <a:ext cx="15367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展示系统主题、成员信息与进入平台入口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D004D1-ED1E-2178-2A41-BC42C912F2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" y="15875"/>
            <a:ext cx="155575" cy="730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300B89C-0601-6E38-E4CC-26BB9CF2B32E}"/>
              </a:ext>
            </a:extLst>
          </p:cNvPr>
          <p:cNvSpPr/>
          <p:nvPr/>
        </p:nvSpPr>
        <p:spPr>
          <a:xfrm>
            <a:off x="6985" y="89916"/>
            <a:ext cx="155575" cy="762"/>
          </a:xfrm>
          <a:prstGeom prst="rect">
            <a:avLst/>
          </a:prstGeom>
          <a:solidFill>
            <a:srgbClr val="38BD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47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A33C84-5DA1-ABF6-6366-1FC4C92C8633}"/>
              </a:ext>
            </a:extLst>
          </p:cNvPr>
          <p:cNvSpPr txBox="1"/>
          <p:nvPr/>
        </p:nvSpPr>
        <p:spPr>
          <a:xfrm>
            <a:off x="5715" y="3556"/>
            <a:ext cx="157480" cy="526297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空间总览：一图浏览与图层组合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C9315C-4AF0-9395-80EC-3A6979E5D0C6}"/>
              </a:ext>
            </a:extLst>
          </p:cNvPr>
          <p:cNvSpPr txBox="1"/>
          <p:nvPr/>
        </p:nvSpPr>
        <p:spPr>
          <a:xfrm>
            <a:off x="6096" y="10922"/>
            <a:ext cx="153670" cy="44012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统一时间、区域、数据源筛选，支持图层保存、截图与报告导出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914BAB-CEDB-2E50-F9FA-BE2D74F732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" y="15875"/>
            <a:ext cx="155575" cy="730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047CC77-7BC2-1F84-59C5-547708AFCCC1}"/>
              </a:ext>
            </a:extLst>
          </p:cNvPr>
          <p:cNvSpPr/>
          <p:nvPr/>
        </p:nvSpPr>
        <p:spPr>
          <a:xfrm>
            <a:off x="6985" y="89916"/>
            <a:ext cx="155575" cy="762"/>
          </a:xfrm>
          <a:prstGeom prst="rect">
            <a:avLst/>
          </a:prstGeom>
          <a:solidFill>
            <a:srgbClr val="38BD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608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6D9A6B-2399-9A0B-E455-2BB2A854AD50}"/>
              </a:ext>
            </a:extLst>
          </p:cNvPr>
          <p:cNvSpPr txBox="1"/>
          <p:nvPr/>
        </p:nvSpPr>
        <p:spPr>
          <a:xfrm>
            <a:off x="5715" y="3556"/>
            <a:ext cx="157480" cy="526297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经济活力：模型参数与结果解释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07FF02-1BE4-5075-07E2-7BD545DBA9A4}"/>
              </a:ext>
            </a:extLst>
          </p:cNvPr>
          <p:cNvSpPr txBox="1"/>
          <p:nvPr/>
        </p:nvSpPr>
        <p:spPr>
          <a:xfrm>
            <a:off x="6096" y="10922"/>
            <a:ext cx="153670" cy="44012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人流、</a:t>
            </a:r>
            <a:r>
              <a:rPr lang="en-US" altLang="zh-CN" sz="1000">
                <a:solidFill>
                  <a:srgbClr val="E8D8B8"/>
                </a:solidFill>
                <a:latin typeface="Microsoft YaHei" panose="020B0503020204020204" pitchFamily="34" charset="-122"/>
              </a:rPr>
              <a:t>POI</a:t>
            </a:r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、交通、低空观测因子加权，输出排名与贡献分解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33D7CE-D6FE-1CE2-5DFE-6B9A5878AC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" y="15875"/>
            <a:ext cx="155575" cy="730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B797C05-8EDB-5840-BE03-A7260613D2FF}"/>
              </a:ext>
            </a:extLst>
          </p:cNvPr>
          <p:cNvSpPr/>
          <p:nvPr/>
        </p:nvSpPr>
        <p:spPr>
          <a:xfrm>
            <a:off x="6985" y="89916"/>
            <a:ext cx="155575" cy="762"/>
          </a:xfrm>
          <a:prstGeom prst="rect">
            <a:avLst/>
          </a:prstGeom>
          <a:solidFill>
            <a:srgbClr val="38BD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93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429148-2FA5-2D27-82C8-EC0E4CBF1BE8}"/>
              </a:ext>
            </a:extLst>
          </p:cNvPr>
          <p:cNvSpPr txBox="1"/>
          <p:nvPr/>
        </p:nvSpPr>
        <p:spPr>
          <a:xfrm>
            <a:off x="5715" y="3556"/>
            <a:ext cx="157480" cy="563231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商圈识别：</a:t>
            </a:r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POI </a:t>
            </a: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聚类与结构对比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857169-5C2A-231A-4487-FB8CCDA32680}"/>
              </a:ext>
            </a:extLst>
          </p:cNvPr>
          <p:cNvSpPr txBox="1"/>
          <p:nvPr/>
        </p:nvSpPr>
        <p:spPr>
          <a:xfrm>
            <a:off x="6096" y="10922"/>
            <a:ext cx="15367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可调阈值、业态筛选、商圈排名与区域联动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83EDB8-ED3D-24DB-10C1-696E91849A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" y="15875"/>
            <a:ext cx="155575" cy="730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568C9C8-7862-CA4D-06B1-CD64B7E52FB3}"/>
              </a:ext>
            </a:extLst>
          </p:cNvPr>
          <p:cNvSpPr/>
          <p:nvPr/>
        </p:nvSpPr>
        <p:spPr>
          <a:xfrm>
            <a:off x="6985" y="89916"/>
            <a:ext cx="155575" cy="762"/>
          </a:xfrm>
          <a:prstGeom prst="rect">
            <a:avLst/>
          </a:prstGeom>
          <a:solidFill>
            <a:srgbClr val="38BD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112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CD91BE-299D-F600-E2AC-19EF97E2D6F4}"/>
              </a:ext>
            </a:extLst>
          </p:cNvPr>
          <p:cNvSpPr txBox="1"/>
          <p:nvPr/>
        </p:nvSpPr>
        <p:spPr>
          <a:xfrm>
            <a:off x="5715" y="3556"/>
            <a:ext cx="157480" cy="526297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经济动态：时间轴与 </a:t>
            </a:r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A/B </a:t>
            </a: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38512C-35E8-73E7-0947-6DEA15B53C35}"/>
              </a:ext>
            </a:extLst>
          </p:cNvPr>
          <p:cNvSpPr txBox="1"/>
          <p:nvPr/>
        </p:nvSpPr>
        <p:spPr>
          <a:xfrm>
            <a:off x="6096" y="10922"/>
            <a:ext cx="15367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支持历史回放、准实时演示、曲线联动和变化原因说明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BC7136-339B-FB28-FA51-C3A34E06A5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" y="15875"/>
            <a:ext cx="155575" cy="730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4DCFFB-7715-5F27-669D-E3AF29E9D698}"/>
              </a:ext>
            </a:extLst>
          </p:cNvPr>
          <p:cNvSpPr/>
          <p:nvPr/>
        </p:nvSpPr>
        <p:spPr>
          <a:xfrm>
            <a:off x="6985" y="89916"/>
            <a:ext cx="155575" cy="762"/>
          </a:xfrm>
          <a:prstGeom prst="rect">
            <a:avLst/>
          </a:prstGeom>
          <a:solidFill>
            <a:srgbClr val="38BD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00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ADE67A-7160-C6B3-D48C-0BD5A22596AF}"/>
              </a:ext>
            </a:extLst>
          </p:cNvPr>
          <p:cNvSpPr txBox="1"/>
          <p:nvPr/>
        </p:nvSpPr>
        <p:spPr>
          <a:xfrm>
            <a:off x="5715" y="3556"/>
            <a:ext cx="157480" cy="526297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低空增强：无人机数据参与模型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AE84D4-2B75-6D19-54CA-E4A2D58A83CC}"/>
              </a:ext>
            </a:extLst>
          </p:cNvPr>
          <p:cNvSpPr txBox="1"/>
          <p:nvPr/>
        </p:nvSpPr>
        <p:spPr>
          <a:xfrm>
            <a:off x="6096" y="10922"/>
            <a:ext cx="153670" cy="424731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展示航线、覆盖质量、参与模型开关及与活力</a:t>
            </a:r>
            <a:r>
              <a:rPr lang="en-US" altLang="zh-CN" sz="1000">
                <a:solidFill>
                  <a:srgbClr val="E8D8B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三维页面联动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F54268-A885-CFDE-EAC8-29C398A3CE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" y="15875"/>
            <a:ext cx="155575" cy="730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0C3211C-78B8-44D7-E6E6-7AD0F5E1076D}"/>
              </a:ext>
            </a:extLst>
          </p:cNvPr>
          <p:cNvSpPr/>
          <p:nvPr/>
        </p:nvSpPr>
        <p:spPr>
          <a:xfrm>
            <a:off x="6985" y="89916"/>
            <a:ext cx="155575" cy="762"/>
          </a:xfrm>
          <a:prstGeom prst="rect">
            <a:avLst/>
          </a:prstGeom>
          <a:solidFill>
            <a:srgbClr val="38BD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01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1A9EEF-E5BC-7AE7-D837-90BD1F5665E0}"/>
              </a:ext>
            </a:extLst>
          </p:cNvPr>
          <p:cNvSpPr txBox="1"/>
          <p:nvPr/>
        </p:nvSpPr>
        <p:spPr>
          <a:xfrm>
            <a:off x="5715" y="3556"/>
            <a:ext cx="15748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后续完善方向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3446C1-D0D9-2186-6AB7-2E29B7648A0B}"/>
              </a:ext>
            </a:extLst>
          </p:cNvPr>
          <p:cNvSpPr txBox="1"/>
          <p:nvPr/>
        </p:nvSpPr>
        <p:spPr>
          <a:xfrm>
            <a:off x="6096" y="10922"/>
            <a:ext cx="15367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E8D8B8"/>
                </a:solidFill>
                <a:latin typeface="Microsoft YaHei" panose="020B0503020204020204" pitchFamily="34" charset="-122"/>
              </a:rPr>
              <a:t>围绕真实数据接入、模型服务与展示汇报能力继续增强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AB6016-DE46-026E-2B00-764801039A8F}"/>
              </a:ext>
            </a:extLst>
          </p:cNvPr>
          <p:cNvSpPr txBox="1"/>
          <p:nvPr/>
        </p:nvSpPr>
        <p:spPr>
          <a:xfrm>
            <a:off x="10795" y="17145"/>
            <a:ext cx="149860" cy="1055673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</a:rPr>
              <a:t>接入真实或合规开放数据：</a:t>
            </a:r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WMTS/WMS</a:t>
            </a:r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GeoJSON</a:t>
            </a:r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PostGIS API</a:t>
            </a:r>
            <a:endParaRPr lang="zh-CN" altLang="en-US" sz="17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86C575-183B-C08A-4281-2C493927CEE5}"/>
              </a:ext>
            </a:extLst>
          </p:cNvPr>
          <p:cNvSpPr txBox="1"/>
          <p:nvPr/>
        </p:nvSpPr>
        <p:spPr>
          <a:xfrm>
            <a:off x="10795" y="26289"/>
            <a:ext cx="149860" cy="71558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</a:rPr>
              <a:t>完善模型服务：活力评估、商圈识别、动态分析任务异步化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3F5DA7-8E94-CB1C-45C5-D7BD6141B704}"/>
              </a:ext>
            </a:extLst>
          </p:cNvPr>
          <p:cNvSpPr txBox="1"/>
          <p:nvPr/>
        </p:nvSpPr>
        <p:spPr>
          <a:xfrm>
            <a:off x="10795" y="35433"/>
            <a:ext cx="149860" cy="79406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</a:rPr>
              <a:t>增强报告能力：多图截图、</a:t>
            </a:r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PDF </a:t>
            </a:r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</a:rPr>
              <a:t>导出、图例与元数据自动入报告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6F2F61-0838-90A8-938D-05404A24E788}"/>
              </a:ext>
            </a:extLst>
          </p:cNvPr>
          <p:cNvSpPr txBox="1"/>
          <p:nvPr/>
        </p:nvSpPr>
        <p:spPr>
          <a:xfrm>
            <a:off x="10795" y="44577"/>
            <a:ext cx="149860" cy="87254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</a:rPr>
              <a:t>三维与低空深化：</a:t>
            </a:r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3D Tiles</a:t>
            </a:r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</a:rPr>
              <a:t>、无人机影像覆盖、航线与质检元数据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5881EB-FB87-5FB8-C153-AF10D84A380F}"/>
              </a:ext>
            </a:extLst>
          </p:cNvPr>
          <p:cNvSpPr txBox="1"/>
          <p:nvPr/>
        </p:nvSpPr>
        <p:spPr>
          <a:xfrm>
            <a:off x="10795" y="53721"/>
            <a:ext cx="149860" cy="71558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>
                <a:solidFill>
                  <a:srgbClr val="FFFF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</a:rPr>
              <a:t>工程质量：类型检查、接口文档、数据字段标准与部署说明</a:t>
            </a:r>
          </a:p>
        </p:txBody>
      </p:sp>
    </p:spTree>
    <p:extLst>
      <p:ext uri="{BB962C8B-B14F-4D97-AF65-F5344CB8AC3E}">
        <p14:creationId xmlns:p14="http://schemas.microsoft.com/office/powerpoint/2010/main" val="54529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PresentationFormat>自定义</PresentationFormat>
  <Paragraphs>29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贞如 施</dc:creator>
  <cp:lastModifiedBy>贞如 施</cp:lastModifiedBy>
  <cp:revision>1</cp:revision>
  <dcterms:created xsi:type="dcterms:W3CDTF">2026-06-01T06:48:17Z</dcterms:created>
  <dcterms:modified xsi:type="dcterms:W3CDTF">2026-06-01T06:48:18Z</dcterms:modified>
</cp:coreProperties>
</file>